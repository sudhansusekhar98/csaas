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4" r:id="rId4"/>
    <p:sldId id="270" r:id="rId5"/>
    <p:sldId id="272" r:id="rId6"/>
    <p:sldId id="274" r:id="rId7"/>
    <p:sldId id="276" r:id="rId8"/>
    <p:sldId id="278" r:id="rId9"/>
    <p:sldId id="280" r:id="rId10"/>
    <p:sldId id="282" r:id="rId11"/>
    <p:sldId id="284" r:id="rId12"/>
    <p:sldId id="265" r:id="rId13"/>
    <p:sldId id="267" r:id="rId14"/>
    <p:sldId id="263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606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82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4335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645920"/>
            <a:ext cx="4572000" cy="45720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046720" y="-548640"/>
            <a:ext cx="2560320" cy="2560320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914400" y="3657600"/>
            <a:ext cx="2560320" cy="256032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64008" cy="2286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58368" y="1417320"/>
            <a:ext cx="276893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kern="0" spc="5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CSAAS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658368" y="2606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 Sample Anti-Adulteration System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58368" y="3291840"/>
            <a:ext cx="3840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58368" y="3456432"/>
            <a:ext cx="209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 Access Pvt Ltd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58368" y="4617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Tamper-Evident</a:t>
            </a:r>
            <a:r>
              <a:rPr lang="en-US" sz="1100" b="1" kern="0" spc="10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·  </a:t>
            </a:r>
            <a:r>
              <a:rPr lang="en-US" sz="1100" b="1" kern="0" spc="100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Verifiable</a:t>
            </a:r>
            <a:r>
              <a:rPr lang="en-US" sz="1100" b="1" kern="0" spc="10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·  </a:t>
            </a:r>
            <a:r>
              <a:rPr lang="en-US" sz="1100" b="1" kern="0" spc="100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Audit-Ready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457200"/>
            <a:ext cx="1828800" cy="18288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 quality disputes cost millions. The root cause is sample adulteration and until now, it has been nearly impossible to prove.</a:t>
            </a:r>
            <a:endParaRPr lang="en-US" sz="13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765F5D-643C-BED2-41A1-61B3A026387B}"/>
              </a:ext>
            </a:extLst>
          </p:cNvPr>
          <p:cNvGrpSpPr/>
          <p:nvPr/>
        </p:nvGrpSpPr>
        <p:grpSpPr>
          <a:xfrm>
            <a:off x="384048" y="1508760"/>
            <a:ext cx="2670048" cy="3246120"/>
            <a:chOff x="384048" y="1508760"/>
            <a:chExt cx="2670048" cy="3246120"/>
          </a:xfrm>
        </p:grpSpPr>
        <p:sp>
          <p:nvSpPr>
            <p:cNvPr id="5" name="Shape 3"/>
            <p:cNvSpPr/>
            <p:nvPr/>
          </p:nvSpPr>
          <p:spPr>
            <a:xfrm>
              <a:off x="384048" y="1508760"/>
              <a:ext cx="2670048" cy="32461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Shape 4"/>
            <p:cNvSpPr/>
            <p:nvPr/>
          </p:nvSpPr>
          <p:spPr>
            <a:xfrm>
              <a:off x="384048" y="1508760"/>
              <a:ext cx="2670048" cy="54864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5"/>
            <p:cNvSpPr/>
            <p:nvPr/>
          </p:nvSpPr>
          <p:spPr>
            <a:xfrm>
              <a:off x="548640" y="1673352"/>
              <a:ext cx="9144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600" b="1" dirty="0">
                  <a:solidFill>
                    <a:srgbClr val="F59E0B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01</a:t>
              </a:r>
              <a:endParaRPr lang="en-US" sz="36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48640" y="2377440"/>
              <a:ext cx="2340864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C2B3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Sample Adulteration</a:t>
              </a:r>
              <a:endParaRPr lang="en-US" sz="14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48640" y="2880360"/>
              <a:ext cx="2340864" cy="1737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Coal samples are physically tampered with during transit from the collection point to the laboratory, distorting quality measurements and financial settlements.</a:t>
              </a:r>
              <a:endParaRPr lang="en-US" sz="11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4CF89F1-FDE0-2C34-7D35-A00002548D55}"/>
              </a:ext>
            </a:extLst>
          </p:cNvPr>
          <p:cNvGrpSpPr/>
          <p:nvPr/>
        </p:nvGrpSpPr>
        <p:grpSpPr>
          <a:xfrm>
            <a:off x="3236976" y="1508760"/>
            <a:ext cx="2670048" cy="3246120"/>
            <a:chOff x="3236976" y="1508760"/>
            <a:chExt cx="2670048" cy="3246120"/>
          </a:xfrm>
        </p:grpSpPr>
        <p:sp>
          <p:nvSpPr>
            <p:cNvPr id="10" name="Shape 8"/>
            <p:cNvSpPr/>
            <p:nvPr/>
          </p:nvSpPr>
          <p:spPr>
            <a:xfrm>
              <a:off x="3236976" y="1508760"/>
              <a:ext cx="2670048" cy="32461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236976" y="1508760"/>
              <a:ext cx="2670048" cy="54864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 10"/>
            <p:cNvSpPr/>
            <p:nvPr/>
          </p:nvSpPr>
          <p:spPr>
            <a:xfrm>
              <a:off x="3401568" y="1673352"/>
              <a:ext cx="9144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600" b="1" dirty="0">
                  <a:solidFill>
                    <a:srgbClr val="0D9488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02</a:t>
              </a:r>
              <a:endParaRPr lang="en-US" sz="36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401568" y="2377440"/>
              <a:ext cx="2340864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C2B3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No Chain of Custody</a:t>
              </a:r>
              <a:endParaRPr lang="en-US" sz="14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401568" y="2880360"/>
              <a:ext cx="2340864" cy="1737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Manual handoffs between personnel create gaps where accountability is lost. There is no verifiable record linking each sample to its handler.</a:t>
              </a:r>
              <a:endParaRPr lang="en-US" sz="11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CA04631-8613-2213-AD8D-133DE57CCC5B}"/>
              </a:ext>
            </a:extLst>
          </p:cNvPr>
          <p:cNvGrpSpPr/>
          <p:nvPr/>
        </p:nvGrpSpPr>
        <p:grpSpPr>
          <a:xfrm>
            <a:off x="6089904" y="1508760"/>
            <a:ext cx="2670048" cy="3246120"/>
            <a:chOff x="6089904" y="1508760"/>
            <a:chExt cx="2670048" cy="3246120"/>
          </a:xfrm>
        </p:grpSpPr>
        <p:sp>
          <p:nvSpPr>
            <p:cNvPr id="15" name="Shape 13"/>
            <p:cNvSpPr/>
            <p:nvPr/>
          </p:nvSpPr>
          <p:spPr>
            <a:xfrm>
              <a:off x="6089904" y="1508760"/>
              <a:ext cx="2670048" cy="32461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Shape 14"/>
            <p:cNvSpPr/>
            <p:nvPr/>
          </p:nvSpPr>
          <p:spPr>
            <a:xfrm>
              <a:off x="6089904" y="1508760"/>
              <a:ext cx="2670048" cy="54864"/>
            </a:xfrm>
            <a:prstGeom prst="rect">
              <a:avLst/>
            </a:prstGeom>
            <a:solidFill>
              <a:srgbClr val="1C2B3A"/>
            </a:solidFill>
            <a:ln w="12700">
              <a:solidFill>
                <a:srgbClr val="1C2B3A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 15"/>
            <p:cNvSpPr/>
            <p:nvPr/>
          </p:nvSpPr>
          <p:spPr>
            <a:xfrm>
              <a:off x="6254496" y="1673352"/>
              <a:ext cx="9144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600" b="1" dirty="0">
                  <a:solidFill>
                    <a:srgbClr val="1C2B3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03</a:t>
              </a:r>
              <a:endParaRPr lang="en-US" sz="36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254496" y="2377440"/>
              <a:ext cx="2340864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C2B3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Audit Gaps</a:t>
              </a:r>
              <a:endParaRPr lang="en-US" sz="14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6254496" y="2880360"/>
              <a:ext cx="2340864" cy="1737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Paper-based processes leave no digital evidence trail, exposing the plant to disputes, compliance failures and financial losses.</a:t>
              </a:r>
              <a:endParaRPr lang="en-US" sz="11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</a:rPr>
              <a:t>A fully integrated 6-stage chain-of-custody platform - from consignment receipt at the DVC plant to laboratory authentication.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8740028-EDFB-3745-F6E3-A85D5EC85531}"/>
              </a:ext>
            </a:extLst>
          </p:cNvPr>
          <p:cNvGrpSpPr/>
          <p:nvPr/>
        </p:nvGrpSpPr>
        <p:grpSpPr>
          <a:xfrm>
            <a:off x="466344" y="1828800"/>
            <a:ext cx="1481328" cy="1417320"/>
            <a:chOff x="466344" y="1828800"/>
            <a:chExt cx="1481328" cy="1417320"/>
          </a:xfrm>
        </p:grpSpPr>
        <p:sp>
          <p:nvSpPr>
            <p:cNvPr id="4" name="Shape 2"/>
            <p:cNvSpPr/>
            <p:nvPr/>
          </p:nvSpPr>
          <p:spPr>
            <a:xfrm>
              <a:off x="466344" y="1828800"/>
              <a:ext cx="1481328" cy="1417320"/>
            </a:xfrm>
            <a:prstGeom prst="rect">
              <a:avLst/>
            </a:prstGeom>
            <a:solidFill>
              <a:srgbClr val="1C2B3A"/>
            </a:solidFill>
            <a:ln w="12700">
              <a:solidFill>
                <a:srgbClr val="1C2B3A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Shape 3"/>
            <p:cNvSpPr/>
            <p:nvPr/>
          </p:nvSpPr>
          <p:spPr>
            <a:xfrm>
              <a:off x="466344" y="1828800"/>
              <a:ext cx="1481328" cy="64008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 4"/>
            <p:cNvSpPr/>
            <p:nvPr/>
          </p:nvSpPr>
          <p:spPr>
            <a:xfrm>
              <a:off x="466344" y="1993392"/>
              <a:ext cx="148132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0D9488"/>
                  </a:solidFill>
                  <a:latin typeface="Trebuchet MS" pitchFamily="34" charset="0"/>
                </a:rPr>
                <a:t>01</a:t>
              </a:r>
            </a:p>
          </p:txBody>
        </p:sp>
        <p:sp>
          <p:nvSpPr>
            <p:cNvPr id="7" name="Text 5"/>
            <p:cNvSpPr/>
            <p:nvPr/>
          </p:nvSpPr>
          <p:spPr>
            <a:xfrm>
              <a:off x="466344" y="2423160"/>
              <a:ext cx="1481328" cy="749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itchFamily="34" charset="0"/>
                </a:rPr>
                <a:t>Consignment</a:t>
              </a: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itchFamily="34" charset="0"/>
                </a:rPr>
                <a:t>Receipt</a:t>
              </a:r>
            </a:p>
          </p:txBody>
        </p:sp>
      </p:grpSp>
      <p:sp>
        <p:nvSpPr>
          <p:cNvPr id="8" name="Shape 6"/>
          <p:cNvSpPr/>
          <p:nvPr/>
        </p:nvSpPr>
        <p:spPr>
          <a:xfrm>
            <a:off x="1975104" y="2537460"/>
            <a:ext cx="146304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5401B86-9EF0-F094-A3FC-AD1A41B1EA25}"/>
              </a:ext>
            </a:extLst>
          </p:cNvPr>
          <p:cNvGrpSpPr/>
          <p:nvPr/>
        </p:nvGrpSpPr>
        <p:grpSpPr>
          <a:xfrm>
            <a:off x="2148840" y="1828800"/>
            <a:ext cx="1481328" cy="1417320"/>
            <a:chOff x="2148840" y="1828800"/>
            <a:chExt cx="1481328" cy="1417320"/>
          </a:xfrm>
        </p:grpSpPr>
        <p:sp>
          <p:nvSpPr>
            <p:cNvPr id="9" name="Shape 7"/>
            <p:cNvSpPr/>
            <p:nvPr/>
          </p:nvSpPr>
          <p:spPr>
            <a:xfrm>
              <a:off x="2148840" y="1828800"/>
              <a:ext cx="1481328" cy="1417320"/>
            </a:xfrm>
            <a:prstGeom prst="rect">
              <a:avLst/>
            </a:prstGeom>
            <a:solidFill>
              <a:srgbClr val="1C2B3A"/>
            </a:solidFill>
            <a:ln w="12700">
              <a:solidFill>
                <a:srgbClr val="1C2B3A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Shape 8"/>
            <p:cNvSpPr/>
            <p:nvPr/>
          </p:nvSpPr>
          <p:spPr>
            <a:xfrm>
              <a:off x="2148840" y="1828800"/>
              <a:ext cx="1481328" cy="64008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 9"/>
            <p:cNvSpPr/>
            <p:nvPr/>
          </p:nvSpPr>
          <p:spPr>
            <a:xfrm>
              <a:off x="2148840" y="1993392"/>
              <a:ext cx="148132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0D9488"/>
                  </a:solidFill>
                  <a:latin typeface="Trebuchet MS" pitchFamily="34" charset="0"/>
                </a:rPr>
                <a:t>02</a:t>
              </a:r>
            </a:p>
          </p:txBody>
        </p:sp>
        <p:sp>
          <p:nvSpPr>
            <p:cNvPr id="12" name="Text 10"/>
            <p:cNvSpPr/>
            <p:nvPr/>
          </p:nvSpPr>
          <p:spPr>
            <a:xfrm>
              <a:off x="2148840" y="2423160"/>
              <a:ext cx="1481328" cy="749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itchFamily="34" charset="0"/>
                </a:rPr>
                <a:t>Sample</a:t>
              </a: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itchFamily="34" charset="0"/>
                </a:rPr>
                <a:t>Collection</a:t>
              </a:r>
            </a:p>
          </p:txBody>
        </p:sp>
      </p:grpSp>
      <p:sp>
        <p:nvSpPr>
          <p:cNvPr id="13" name="Shape 11"/>
          <p:cNvSpPr/>
          <p:nvPr/>
        </p:nvSpPr>
        <p:spPr>
          <a:xfrm>
            <a:off x="3657600" y="2537460"/>
            <a:ext cx="146304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94761D1-FF5A-E606-9867-8E2F83BF4F38}"/>
              </a:ext>
            </a:extLst>
          </p:cNvPr>
          <p:cNvGrpSpPr/>
          <p:nvPr/>
        </p:nvGrpSpPr>
        <p:grpSpPr>
          <a:xfrm>
            <a:off x="3831336" y="1828800"/>
            <a:ext cx="1481328" cy="1417320"/>
            <a:chOff x="3831336" y="1828800"/>
            <a:chExt cx="1481328" cy="1417320"/>
          </a:xfrm>
        </p:grpSpPr>
        <p:sp>
          <p:nvSpPr>
            <p:cNvPr id="14" name="Shape 12"/>
            <p:cNvSpPr/>
            <p:nvPr/>
          </p:nvSpPr>
          <p:spPr>
            <a:xfrm>
              <a:off x="3831336" y="1828800"/>
              <a:ext cx="1481328" cy="1417320"/>
            </a:xfrm>
            <a:prstGeom prst="rect">
              <a:avLst/>
            </a:prstGeom>
            <a:solidFill>
              <a:srgbClr val="1C2B3A"/>
            </a:solidFill>
            <a:ln w="12700">
              <a:solidFill>
                <a:srgbClr val="1C2B3A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Shape 13"/>
            <p:cNvSpPr/>
            <p:nvPr/>
          </p:nvSpPr>
          <p:spPr>
            <a:xfrm>
              <a:off x="3831336" y="1828800"/>
              <a:ext cx="1481328" cy="64008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 14"/>
            <p:cNvSpPr/>
            <p:nvPr/>
          </p:nvSpPr>
          <p:spPr>
            <a:xfrm>
              <a:off x="3831336" y="1993392"/>
              <a:ext cx="148132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0D9488"/>
                  </a:solidFill>
                  <a:latin typeface="Trebuchet MS" pitchFamily="34" charset="0"/>
                </a:rPr>
                <a:t>03</a:t>
              </a:r>
            </a:p>
          </p:txBody>
        </p:sp>
        <p:sp>
          <p:nvSpPr>
            <p:cNvPr id="17" name="Text 15"/>
            <p:cNvSpPr/>
            <p:nvPr/>
          </p:nvSpPr>
          <p:spPr>
            <a:xfrm>
              <a:off x="3831336" y="2423160"/>
              <a:ext cx="1481328" cy="749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itchFamily="34" charset="0"/>
                </a:rPr>
                <a:t>In-Transit</a:t>
              </a: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itchFamily="34" charset="0"/>
                </a:rPr>
                <a:t>VMS Tracking</a:t>
              </a:r>
            </a:p>
          </p:txBody>
        </p:sp>
      </p:grpSp>
      <p:sp>
        <p:nvSpPr>
          <p:cNvPr id="18" name="Shape 16"/>
          <p:cNvSpPr/>
          <p:nvPr/>
        </p:nvSpPr>
        <p:spPr>
          <a:xfrm>
            <a:off x="5340096" y="2537460"/>
            <a:ext cx="146304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A0B1581-337C-4D53-1325-BE1987425815}"/>
              </a:ext>
            </a:extLst>
          </p:cNvPr>
          <p:cNvGrpSpPr/>
          <p:nvPr/>
        </p:nvGrpSpPr>
        <p:grpSpPr>
          <a:xfrm>
            <a:off x="5513832" y="1828800"/>
            <a:ext cx="1481328" cy="1417320"/>
            <a:chOff x="5513832" y="1828800"/>
            <a:chExt cx="1481328" cy="1417320"/>
          </a:xfrm>
        </p:grpSpPr>
        <p:sp>
          <p:nvSpPr>
            <p:cNvPr id="19" name="Shape 17"/>
            <p:cNvSpPr/>
            <p:nvPr/>
          </p:nvSpPr>
          <p:spPr>
            <a:xfrm>
              <a:off x="5513832" y="1828800"/>
              <a:ext cx="1481328" cy="1417320"/>
            </a:xfrm>
            <a:prstGeom prst="rect">
              <a:avLst/>
            </a:prstGeom>
            <a:solidFill>
              <a:srgbClr val="1C2B3A"/>
            </a:solidFill>
            <a:ln w="12700">
              <a:solidFill>
                <a:srgbClr val="1C2B3A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Shape 18"/>
            <p:cNvSpPr/>
            <p:nvPr/>
          </p:nvSpPr>
          <p:spPr>
            <a:xfrm>
              <a:off x="5513832" y="1828800"/>
              <a:ext cx="1481328" cy="64008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 19"/>
            <p:cNvSpPr/>
            <p:nvPr/>
          </p:nvSpPr>
          <p:spPr>
            <a:xfrm>
              <a:off x="5513832" y="1993392"/>
              <a:ext cx="148132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0D9488"/>
                  </a:solidFill>
                  <a:latin typeface="Trebuchet MS" pitchFamily="34" charset="0"/>
                </a:rPr>
                <a:t>04</a:t>
              </a:r>
            </a:p>
          </p:txBody>
        </p:sp>
        <p:sp>
          <p:nvSpPr>
            <p:cNvPr id="22" name="Text 20"/>
            <p:cNvSpPr/>
            <p:nvPr/>
          </p:nvSpPr>
          <p:spPr>
            <a:xfrm>
              <a:off x="5513832" y="2423160"/>
              <a:ext cx="1481328" cy="749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itchFamily="34" charset="0"/>
                </a:rPr>
                <a:t>Prep Room</a:t>
              </a: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itchFamily="34" charset="0"/>
                </a:rPr>
                <a:t>Pulverisation</a:t>
              </a:r>
            </a:p>
          </p:txBody>
        </p:sp>
      </p:grpSp>
      <p:sp>
        <p:nvSpPr>
          <p:cNvPr id="23" name="Shape 21"/>
          <p:cNvSpPr/>
          <p:nvPr/>
        </p:nvSpPr>
        <p:spPr>
          <a:xfrm>
            <a:off x="7022592" y="2537460"/>
            <a:ext cx="146304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D60684C-47EC-0D81-156C-A871CD2524CF}"/>
              </a:ext>
            </a:extLst>
          </p:cNvPr>
          <p:cNvGrpSpPr/>
          <p:nvPr/>
        </p:nvGrpSpPr>
        <p:grpSpPr>
          <a:xfrm>
            <a:off x="7196328" y="1828800"/>
            <a:ext cx="1481328" cy="1417320"/>
            <a:chOff x="7196328" y="1828800"/>
            <a:chExt cx="1481328" cy="1417320"/>
          </a:xfrm>
        </p:grpSpPr>
        <p:sp>
          <p:nvSpPr>
            <p:cNvPr id="24" name="Shape 22"/>
            <p:cNvSpPr/>
            <p:nvPr/>
          </p:nvSpPr>
          <p:spPr>
            <a:xfrm>
              <a:off x="7196328" y="1828800"/>
              <a:ext cx="1481328" cy="1417320"/>
            </a:xfrm>
            <a:prstGeom prst="rect">
              <a:avLst/>
            </a:prstGeom>
            <a:solidFill>
              <a:srgbClr val="1C2B3A"/>
            </a:solidFill>
            <a:ln w="12700">
              <a:solidFill>
                <a:srgbClr val="1C2B3A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Shape 23"/>
            <p:cNvSpPr/>
            <p:nvPr/>
          </p:nvSpPr>
          <p:spPr>
            <a:xfrm>
              <a:off x="7196328" y="1828800"/>
              <a:ext cx="1481328" cy="64008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 24"/>
            <p:cNvSpPr/>
            <p:nvPr/>
          </p:nvSpPr>
          <p:spPr>
            <a:xfrm>
              <a:off x="7196328" y="1993392"/>
              <a:ext cx="148132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0D9488"/>
                  </a:solidFill>
                  <a:latin typeface="Trebuchet MS" pitchFamily="34" charset="0"/>
                </a:rPr>
                <a:t>05</a:t>
              </a:r>
            </a:p>
          </p:txBody>
        </p:sp>
        <p:sp>
          <p:nvSpPr>
            <p:cNvPr id="27" name="Text 25"/>
            <p:cNvSpPr/>
            <p:nvPr/>
          </p:nvSpPr>
          <p:spPr>
            <a:xfrm>
              <a:off x="7196328" y="2423160"/>
              <a:ext cx="1481328" cy="749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itchFamily="34" charset="0"/>
                </a:rPr>
                <a:t>Division &amp;</a:t>
              </a: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itchFamily="34" charset="0"/>
                </a:rPr>
                <a:t>Lab Receiving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E723334-8636-250C-6353-709D823F5870}"/>
              </a:ext>
            </a:extLst>
          </p:cNvPr>
          <p:cNvGrpSpPr/>
          <p:nvPr/>
        </p:nvGrpSpPr>
        <p:grpSpPr>
          <a:xfrm>
            <a:off x="502920" y="3703320"/>
            <a:ext cx="2377440" cy="1051560"/>
            <a:chOff x="502920" y="3703320"/>
            <a:chExt cx="2377440" cy="1051560"/>
          </a:xfrm>
        </p:grpSpPr>
        <p:sp>
          <p:nvSpPr>
            <p:cNvPr id="28" name="Shape 26"/>
            <p:cNvSpPr/>
            <p:nvPr/>
          </p:nvSpPr>
          <p:spPr>
            <a:xfrm>
              <a:off x="502920" y="3703320"/>
              <a:ext cx="2377440" cy="1051560"/>
            </a:xfrm>
            <a:prstGeom prst="rect">
              <a:avLst/>
            </a:prstGeom>
            <a:solidFill>
              <a:srgbClr val="0D9488">
                <a:alpha val="90000"/>
              </a:srgbClr>
            </a:solidFill>
            <a:ln w="12700">
              <a:solidFill>
                <a:srgbClr val="0D948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 27"/>
            <p:cNvSpPr/>
            <p:nvPr/>
          </p:nvSpPr>
          <p:spPr>
            <a:xfrm>
              <a:off x="502920" y="3813048"/>
              <a:ext cx="23774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Verifiable</a:t>
              </a:r>
              <a:endParaRPr lang="en-US" sz="15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502920" y="4215384"/>
              <a:ext cx="23774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5EEAD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Every handoff timestamped</a:t>
              </a:r>
              <a:endParaRPr lang="en-US" sz="11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0BB865-0820-10BE-5813-266680953BA7}"/>
              </a:ext>
            </a:extLst>
          </p:cNvPr>
          <p:cNvGrpSpPr/>
          <p:nvPr/>
        </p:nvGrpSpPr>
        <p:grpSpPr>
          <a:xfrm>
            <a:off x="3383280" y="3703320"/>
            <a:ext cx="2377440" cy="1051560"/>
            <a:chOff x="3383280" y="3703320"/>
            <a:chExt cx="2377440" cy="1051560"/>
          </a:xfrm>
        </p:grpSpPr>
        <p:sp>
          <p:nvSpPr>
            <p:cNvPr id="31" name="Shape 29"/>
            <p:cNvSpPr/>
            <p:nvPr/>
          </p:nvSpPr>
          <p:spPr>
            <a:xfrm>
              <a:off x="3383280" y="3703320"/>
              <a:ext cx="2377440" cy="1051560"/>
            </a:xfrm>
            <a:prstGeom prst="rect">
              <a:avLst/>
            </a:prstGeom>
            <a:solidFill>
              <a:srgbClr val="0D9488">
                <a:alpha val="90000"/>
              </a:srgbClr>
            </a:solidFill>
            <a:ln w="12700">
              <a:solidFill>
                <a:srgbClr val="0D948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 30"/>
            <p:cNvSpPr/>
            <p:nvPr/>
          </p:nvSpPr>
          <p:spPr>
            <a:xfrm>
              <a:off x="3383280" y="3813048"/>
              <a:ext cx="23774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Transparent</a:t>
              </a:r>
              <a:endParaRPr lang="en-US" sz="15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3383280" y="4215384"/>
              <a:ext cx="23774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5EEAD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Full movement audit trail</a:t>
              </a:r>
              <a:endParaRPr lang="en-US" sz="1100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F95EED2-BDC5-6557-CEF0-F0E1FF928C1A}"/>
              </a:ext>
            </a:extLst>
          </p:cNvPr>
          <p:cNvGrpSpPr/>
          <p:nvPr/>
        </p:nvGrpSpPr>
        <p:grpSpPr>
          <a:xfrm>
            <a:off x="6263640" y="3703320"/>
            <a:ext cx="2377440" cy="1051560"/>
            <a:chOff x="6263640" y="3703320"/>
            <a:chExt cx="2377440" cy="1051560"/>
          </a:xfrm>
        </p:grpSpPr>
        <p:sp>
          <p:nvSpPr>
            <p:cNvPr id="34" name="Shape 32"/>
            <p:cNvSpPr/>
            <p:nvPr/>
          </p:nvSpPr>
          <p:spPr>
            <a:xfrm>
              <a:off x="6263640" y="3703320"/>
              <a:ext cx="2377440" cy="1051560"/>
            </a:xfrm>
            <a:prstGeom prst="rect">
              <a:avLst/>
            </a:prstGeom>
            <a:solidFill>
              <a:srgbClr val="0D9488">
                <a:alpha val="90000"/>
              </a:srgbClr>
            </a:solidFill>
            <a:ln w="12700">
              <a:solidFill>
                <a:srgbClr val="0D948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 33"/>
            <p:cNvSpPr/>
            <p:nvPr/>
          </p:nvSpPr>
          <p:spPr>
            <a:xfrm>
              <a:off x="6263640" y="3813048"/>
              <a:ext cx="23774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Audit-Ready</a:t>
              </a:r>
              <a:endParaRPr lang="en-US" sz="15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6263640" y="4215384"/>
              <a:ext cx="23774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5EEAD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Instant evidence export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20454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u="sng" dirty="0">
                <a:solidFill>
                  <a:srgbClr val="1C2B3A"/>
                </a:solidFill>
                <a:latin typeface="Trebuchet MS"/>
              </a:rPr>
              <a:t>Feature Demo - Live Pipeline Dashboard</a:t>
            </a:r>
          </a:p>
        </p:txBody>
      </p:sp>
      <p:sp>
        <p:nvSpPr>
          <p:cNvPr id="3" name="Shape 1"/>
          <p:cNvSpPr/>
          <p:nvPr/>
        </p:nvSpPr>
        <p:spPr>
          <a:xfrm>
            <a:off x="347472" y="1005840"/>
            <a:ext cx="4343400" cy="3845052"/>
          </a:xfrm>
          <a:prstGeom prst="rect">
            <a:avLst/>
          </a:prstGeom>
          <a:solidFill>
            <a:srgbClr val="EBF5FB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84632" y="1170432"/>
            <a:ext cx="3694176" cy="2404872"/>
          </a:xfrm>
          <a:prstGeom prst="rect">
            <a:avLst/>
          </a:prstGeom>
          <a:solidFill>
            <a:srgbClr val="D6EA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84632" y="1170432"/>
            <a:ext cx="3694176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>
              <a:buNone/>
            </a:pPr>
            <a:r>
              <a:rPr lang="en-US" sz="1100" b="1" i="1" dirty="0">
                <a:solidFill>
                  <a:srgbClr val="64748B"/>
                </a:solidFill>
                <a:latin typeface="Calibri"/>
              </a:rPr>
              <a:t>[ Screenshot Placeholder ]</a:t>
            </a:r>
          </a:p>
        </p:txBody>
      </p:sp>
      <p:sp>
        <p:nvSpPr>
          <p:cNvPr id="6" name="Text 4"/>
          <p:cNvSpPr/>
          <p:nvPr/>
        </p:nvSpPr>
        <p:spPr>
          <a:xfrm>
            <a:off x="484632" y="2372868"/>
            <a:ext cx="3694176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en-US" sz="900" i="1" dirty="0">
                <a:solidFill>
                  <a:srgbClr val="A0AEC0"/>
                </a:solidFill>
                <a:latin typeface="Calibri"/>
              </a:rPr>
              <a:t>Attach screenshot here</a:t>
            </a:r>
          </a:p>
        </p:txBody>
      </p:sp>
      <p:sp>
        <p:nvSpPr>
          <p:cNvPr id="7" name="Text 5"/>
          <p:cNvSpPr/>
          <p:nvPr/>
        </p:nvSpPr>
        <p:spPr>
          <a:xfrm>
            <a:off x="457200" y="4263903"/>
            <a:ext cx="3968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/>
              </a:rPr>
              <a:t>01 - Live Pipeline Dashboard</a:t>
            </a:r>
          </a:p>
        </p:txBody>
      </p:sp>
      <p:sp>
        <p:nvSpPr>
          <p:cNvPr id="8" name="Shape 6"/>
          <p:cNvSpPr/>
          <p:nvPr/>
        </p:nvSpPr>
        <p:spPr>
          <a:xfrm>
            <a:off x="4828032" y="1005840"/>
            <a:ext cx="3968496" cy="3063240"/>
          </a:xfrm>
          <a:prstGeom prst="rect">
            <a:avLst/>
          </a:prstGeom>
          <a:solidFill>
            <a:srgbClr val="EBF5FB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965192" y="1170432"/>
            <a:ext cx="3694176" cy="2404872"/>
          </a:xfrm>
          <a:prstGeom prst="rect">
            <a:avLst/>
          </a:prstGeom>
          <a:solidFill>
            <a:srgbClr val="D6EA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4965192" y="1170432"/>
            <a:ext cx="3694176" cy="1202436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b"/>
          <a:lstStyle/>
          <a:p>
            <a:pPr algn="ctr">
              <a:buNone/>
            </a:pPr>
            <a:r>
              <a:rPr lang="en-US" sz="1600" b="1" dirty="0">
                <a:solidFill>
                  <a:srgbClr val="1C2B3A"/>
                </a:solidFill>
                <a:latin typeface="Trebuchet MS"/>
              </a:rPr>
              <a:t>Live Pipeline Dashboard</a:t>
            </a:r>
            <a:br>
              <a:rPr lang="en-US" sz="1600" b="1" dirty="0">
                <a:solidFill>
                  <a:srgbClr val="1C2B3A"/>
                </a:solidFill>
                <a:latin typeface="Trebuchet MS"/>
              </a:rPr>
            </a:br>
            <a:br>
              <a:rPr lang="en-US" sz="1600" b="1" dirty="0">
                <a:solidFill>
                  <a:srgbClr val="1C2B3A"/>
                </a:solidFill>
                <a:latin typeface="Trebuchet MS"/>
              </a:rPr>
            </a:br>
            <a:endParaRPr lang="en-US" sz="1600" b="1" dirty="0">
              <a:solidFill>
                <a:srgbClr val="1C2B3A"/>
              </a:solidFill>
              <a:latin typeface="Trebuchet M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65192" y="2372868"/>
            <a:ext cx="3694176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6 KPI Cards - Total Wagons, Active Samples, Compliance Rate, Avg GCV, Open NCRs</a:t>
            </a:r>
          </a:p>
          <a:p>
            <a:pPr marL="228600" indent="-228600" algn="l"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Hourly throughput chart, sample distribution donut &amp; shift performance gauge</a:t>
            </a:r>
          </a:p>
          <a:p>
            <a:pPr marL="228600" indent="-228600" algn="l"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Live activity feed, active NCR table &amp; clickable pipeline flow navigator</a:t>
            </a:r>
          </a:p>
        </p:txBody>
      </p:sp>
      <p:sp>
        <p:nvSpPr>
          <p:cNvPr id="12" name="Text 10"/>
          <p:cNvSpPr/>
          <p:nvPr/>
        </p:nvSpPr>
        <p:spPr>
          <a:xfrm>
            <a:off x="4828032" y="3666744"/>
            <a:ext cx="3968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900" dirty="0">
                <a:solidFill>
                  <a:srgbClr val="64748B"/>
                </a:solidFill>
                <a:latin typeface="Calibri"/>
              </a:rPr>
              <a:t>          Shift supervisor command centre for real-time coal sample pipeline visibility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CF0D5B4-69FC-9274-3A03-1D4197C61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72739"/>
            <a:ext cx="4114800" cy="319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170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u="sng" dirty="0">
                <a:solidFill>
                  <a:srgbClr val="1C2B3A"/>
                </a:solidFill>
                <a:latin typeface="Trebuchet MS"/>
              </a:rPr>
              <a:t>Feature Demo - Consignment Registration </a:t>
            </a:r>
          </a:p>
        </p:txBody>
      </p:sp>
      <p:sp>
        <p:nvSpPr>
          <p:cNvPr id="3" name="Shape 1"/>
          <p:cNvSpPr/>
          <p:nvPr/>
        </p:nvSpPr>
        <p:spPr>
          <a:xfrm>
            <a:off x="347472" y="1005840"/>
            <a:ext cx="4343400" cy="3743442"/>
          </a:xfrm>
          <a:prstGeom prst="rect">
            <a:avLst/>
          </a:prstGeom>
          <a:solidFill>
            <a:srgbClr val="EBF5FB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84632" y="1170432"/>
            <a:ext cx="4087368" cy="2404872"/>
          </a:xfrm>
          <a:prstGeom prst="rect">
            <a:avLst/>
          </a:prstGeom>
          <a:solidFill>
            <a:srgbClr val="D6EA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84632" y="1170432"/>
            <a:ext cx="3694176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>
              <a:buNone/>
            </a:pPr>
            <a:r>
              <a:rPr lang="en-US" sz="1100" b="1" i="1" dirty="0">
                <a:solidFill>
                  <a:srgbClr val="64748B"/>
                </a:solidFill>
                <a:latin typeface="Calibri"/>
              </a:rPr>
              <a:t>[ Screenshot Placeholder ]</a:t>
            </a:r>
          </a:p>
        </p:txBody>
      </p:sp>
      <p:sp>
        <p:nvSpPr>
          <p:cNvPr id="6" name="Text 4"/>
          <p:cNvSpPr/>
          <p:nvPr/>
        </p:nvSpPr>
        <p:spPr>
          <a:xfrm>
            <a:off x="484632" y="2372868"/>
            <a:ext cx="3694176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en-US" sz="900" i="1" dirty="0">
                <a:solidFill>
                  <a:srgbClr val="A0AEC0"/>
                </a:solidFill>
                <a:latin typeface="Calibri"/>
              </a:rPr>
              <a:t>Attach screenshot here</a:t>
            </a:r>
          </a:p>
        </p:txBody>
      </p:sp>
      <p:sp>
        <p:nvSpPr>
          <p:cNvPr id="7" name="Text 5"/>
          <p:cNvSpPr/>
          <p:nvPr/>
        </p:nvSpPr>
        <p:spPr>
          <a:xfrm>
            <a:off x="603504" y="3963924"/>
            <a:ext cx="3968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/>
              </a:rPr>
              <a:t>02 - DVC Consignments &amp; Registration</a:t>
            </a:r>
          </a:p>
        </p:txBody>
      </p:sp>
      <p:sp>
        <p:nvSpPr>
          <p:cNvPr id="8" name="Shape 6"/>
          <p:cNvSpPr/>
          <p:nvPr/>
        </p:nvSpPr>
        <p:spPr>
          <a:xfrm>
            <a:off x="4828032" y="1005840"/>
            <a:ext cx="3968496" cy="3063240"/>
          </a:xfrm>
          <a:prstGeom prst="rect">
            <a:avLst/>
          </a:prstGeom>
          <a:solidFill>
            <a:srgbClr val="EBF5FB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965192" y="1170432"/>
            <a:ext cx="3694176" cy="2404872"/>
          </a:xfrm>
          <a:prstGeom prst="rect">
            <a:avLst/>
          </a:prstGeom>
          <a:solidFill>
            <a:srgbClr val="D6EA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4965192" y="1170432"/>
            <a:ext cx="3694176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>
              <a:buNone/>
            </a:pPr>
            <a:r>
              <a:rPr lang="en-US" sz="1600" b="1" dirty="0">
                <a:solidFill>
                  <a:srgbClr val="1C2B3A"/>
                </a:solidFill>
                <a:latin typeface="Trebuchet MS"/>
              </a:rPr>
              <a:t>Consignment Registration</a:t>
            </a:r>
            <a:br>
              <a:rPr lang="en-US" sz="1600" b="1" dirty="0">
                <a:solidFill>
                  <a:srgbClr val="1C2B3A"/>
                </a:solidFill>
                <a:latin typeface="Trebuchet MS"/>
              </a:rPr>
            </a:br>
            <a:br>
              <a:rPr lang="en-US" sz="1600" b="1" dirty="0">
                <a:solidFill>
                  <a:srgbClr val="1C2B3A"/>
                </a:solidFill>
                <a:latin typeface="Trebuchet MS"/>
              </a:rPr>
            </a:br>
            <a:endParaRPr lang="en-US" sz="1600" b="1" dirty="0">
              <a:solidFill>
                <a:srgbClr val="1C2B3A"/>
              </a:solidFill>
              <a:latin typeface="Trebuchet M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65192" y="2372868"/>
            <a:ext cx="3694176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Inbound rack manifest ledger - Rack ID, Source Mine, DVC Plant, Wagon count, Status</a:t>
            </a:r>
          </a:p>
          <a:p>
            <a:pPr marL="228600" indent="-228600" algn="l"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Supplier registration modal - Source Mine, Grade (G6–G17), GCV, Rack ID, ETA</a:t>
            </a:r>
          </a:p>
          <a:p>
            <a:pPr marL="228600" indent="-228600" algn="l"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Live status tracking: UNLOADING, IN_TRANSIT, QUEUED, READY across 9 DVC mines</a:t>
            </a:r>
          </a:p>
        </p:txBody>
      </p:sp>
      <p:sp>
        <p:nvSpPr>
          <p:cNvPr id="12" name="Text 10"/>
          <p:cNvSpPr/>
          <p:nvPr/>
        </p:nvSpPr>
        <p:spPr>
          <a:xfrm>
            <a:off x="4828032" y="3666744"/>
            <a:ext cx="3968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/>
              </a:rPr>
              <a:t>Manages inbound coal from DVC captive mines, allocated blocks &amp; CIL subsidiaries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5EBDC28-8E8C-7F99-9CF4-8739E5936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11" y="1083564"/>
            <a:ext cx="2160899" cy="25831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240F7F1-F8D1-6946-D7B1-FB5C086961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3911" y="1083564"/>
            <a:ext cx="1978090" cy="258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84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u="sng" dirty="0">
                <a:solidFill>
                  <a:srgbClr val="1C2B3A"/>
                </a:solidFill>
                <a:latin typeface="Trebuchet MS"/>
              </a:rPr>
              <a:t>Feature Demo - Sample Collection &amp; QR Seal</a:t>
            </a:r>
          </a:p>
        </p:txBody>
      </p:sp>
      <p:sp>
        <p:nvSpPr>
          <p:cNvPr id="3" name="Shape 1"/>
          <p:cNvSpPr/>
          <p:nvPr/>
        </p:nvSpPr>
        <p:spPr>
          <a:xfrm>
            <a:off x="347472" y="1005840"/>
            <a:ext cx="3968496" cy="3952240"/>
          </a:xfrm>
          <a:prstGeom prst="rect">
            <a:avLst/>
          </a:prstGeom>
          <a:solidFill>
            <a:srgbClr val="EBF5FB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84632" y="1170432"/>
            <a:ext cx="3694176" cy="2404872"/>
          </a:xfrm>
          <a:prstGeom prst="rect">
            <a:avLst/>
          </a:prstGeom>
          <a:solidFill>
            <a:srgbClr val="D6EA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84632" y="1170432"/>
            <a:ext cx="3694176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>
              <a:buNone/>
            </a:pPr>
            <a:r>
              <a:rPr lang="en-US" sz="1100" b="1" i="1" dirty="0">
                <a:solidFill>
                  <a:srgbClr val="64748B"/>
                </a:solidFill>
                <a:latin typeface="Calibri"/>
              </a:rPr>
              <a:t>[ Screenshot Placeholder ]</a:t>
            </a:r>
          </a:p>
        </p:txBody>
      </p:sp>
      <p:sp>
        <p:nvSpPr>
          <p:cNvPr id="6" name="Text 4"/>
          <p:cNvSpPr/>
          <p:nvPr/>
        </p:nvSpPr>
        <p:spPr>
          <a:xfrm>
            <a:off x="484632" y="2372868"/>
            <a:ext cx="3694176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en-US" sz="900" i="1" dirty="0">
                <a:solidFill>
                  <a:srgbClr val="A0AEC0"/>
                </a:solidFill>
                <a:latin typeface="Calibri"/>
              </a:rPr>
              <a:t>Attach screenshot here</a:t>
            </a:r>
          </a:p>
        </p:txBody>
      </p:sp>
      <p:sp>
        <p:nvSpPr>
          <p:cNvPr id="7" name="Text 5"/>
          <p:cNvSpPr/>
          <p:nvPr/>
        </p:nvSpPr>
        <p:spPr>
          <a:xfrm>
            <a:off x="347472" y="3666744"/>
            <a:ext cx="3968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/>
              </a:rPr>
              <a:t>03 - Sample Collection &amp; QR Seal Generation</a:t>
            </a:r>
          </a:p>
        </p:txBody>
      </p:sp>
      <p:sp>
        <p:nvSpPr>
          <p:cNvPr id="8" name="Shape 6"/>
          <p:cNvSpPr/>
          <p:nvPr/>
        </p:nvSpPr>
        <p:spPr>
          <a:xfrm>
            <a:off x="4828032" y="1005840"/>
            <a:ext cx="3968496" cy="3063240"/>
          </a:xfrm>
          <a:prstGeom prst="rect">
            <a:avLst/>
          </a:prstGeom>
          <a:solidFill>
            <a:srgbClr val="EBF5FB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965192" y="1170432"/>
            <a:ext cx="3694176" cy="2404872"/>
          </a:xfrm>
          <a:prstGeom prst="rect">
            <a:avLst/>
          </a:prstGeom>
          <a:solidFill>
            <a:srgbClr val="D6EA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965192" y="1170432"/>
            <a:ext cx="3694176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>
              <a:buNone/>
            </a:pPr>
            <a:r>
              <a:rPr lang="en-US" sz="1600" b="1" dirty="0">
                <a:solidFill>
                  <a:srgbClr val="1C2B3A"/>
                </a:solidFill>
                <a:latin typeface="Trebuchet MS"/>
              </a:rPr>
              <a:t>Sample Collection &amp; QR Seal</a:t>
            </a:r>
            <a:br>
              <a:rPr lang="en-US" sz="1600" b="1" dirty="0">
                <a:solidFill>
                  <a:srgbClr val="1C2B3A"/>
                </a:solidFill>
                <a:latin typeface="Trebuchet MS"/>
              </a:rPr>
            </a:br>
            <a:br>
              <a:rPr lang="en-US" sz="1600" b="1" dirty="0">
                <a:solidFill>
                  <a:srgbClr val="1C2B3A"/>
                </a:solidFill>
                <a:latin typeface="Trebuchet MS"/>
              </a:rPr>
            </a:br>
            <a:endParaRPr lang="en-US" sz="1600" b="1" dirty="0">
              <a:solidFill>
                <a:srgbClr val="1C2B3A"/>
              </a:solidFill>
              <a:latin typeface="Trebuchet M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65192" y="2372868"/>
            <a:ext cx="3694176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Collection form - Consignment, Track Hopper / Wagon Tippler toggle, Equipment ID</a:t>
            </a:r>
          </a:p>
          <a:p>
            <a:pPr marL="228600" indent="-228600" algn="l"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QR Label Preview - generates parent seal with CSAAS/DVC branding, QR code, RFID tag</a:t>
            </a:r>
          </a:p>
          <a:p>
            <a:pPr marL="228600" indent="-228600" algn="l"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Every parent sample uniquely bound to its source consignment, wagon &amp; collector</a:t>
            </a:r>
          </a:p>
        </p:txBody>
      </p:sp>
      <p:sp>
        <p:nvSpPr>
          <p:cNvPr id="12" name="Text 10"/>
          <p:cNvSpPr/>
          <p:nvPr/>
        </p:nvSpPr>
        <p:spPr>
          <a:xfrm>
            <a:off x="4828032" y="3666744"/>
            <a:ext cx="3968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/>
              </a:rPr>
              <a:t>Core anti-adulteration entry point - tamper-evident QR + RFID tag at the source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D383D36-449D-1966-AF08-AFADFC3D8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129284"/>
            <a:ext cx="3694176" cy="253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667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u="sng" dirty="0">
                <a:solidFill>
                  <a:srgbClr val="1C2B3A"/>
                </a:solidFill>
                <a:latin typeface="Trebuchet MS"/>
              </a:rPr>
              <a:t>Feature Demo - Chain-of-Custody Tracker</a:t>
            </a:r>
          </a:p>
        </p:txBody>
      </p:sp>
      <p:sp>
        <p:nvSpPr>
          <p:cNvPr id="3" name="Shape 1"/>
          <p:cNvSpPr/>
          <p:nvPr/>
        </p:nvSpPr>
        <p:spPr>
          <a:xfrm>
            <a:off x="347472" y="1005839"/>
            <a:ext cx="3968496" cy="3999653"/>
          </a:xfrm>
          <a:prstGeom prst="rect">
            <a:avLst/>
          </a:prstGeom>
          <a:solidFill>
            <a:srgbClr val="EBF5FB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84632" y="1170432"/>
            <a:ext cx="3694176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>
              <a:buNone/>
            </a:pPr>
            <a:r>
              <a:rPr lang="en-US" sz="1100" b="1" i="1" dirty="0">
                <a:solidFill>
                  <a:srgbClr val="64748B"/>
                </a:solidFill>
                <a:latin typeface="Calibri"/>
              </a:rPr>
              <a:t>[ Screenshot Placeholder ]</a:t>
            </a:r>
          </a:p>
        </p:txBody>
      </p:sp>
      <p:sp>
        <p:nvSpPr>
          <p:cNvPr id="6" name="Text 4"/>
          <p:cNvSpPr/>
          <p:nvPr/>
        </p:nvSpPr>
        <p:spPr>
          <a:xfrm>
            <a:off x="484632" y="2372868"/>
            <a:ext cx="3694176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en-US" sz="900" i="1" dirty="0">
                <a:solidFill>
                  <a:srgbClr val="A0AEC0"/>
                </a:solidFill>
                <a:latin typeface="Calibri"/>
              </a:rPr>
              <a:t>Attach screenshot here</a:t>
            </a:r>
          </a:p>
        </p:txBody>
      </p:sp>
      <p:sp>
        <p:nvSpPr>
          <p:cNvPr id="7" name="Text 5"/>
          <p:cNvSpPr/>
          <p:nvPr/>
        </p:nvSpPr>
        <p:spPr>
          <a:xfrm>
            <a:off x="347472" y="4706111"/>
            <a:ext cx="3968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/>
              </a:rPr>
              <a:t>04 - End-to-End Sample Tracking</a:t>
            </a:r>
          </a:p>
        </p:txBody>
      </p:sp>
      <p:sp>
        <p:nvSpPr>
          <p:cNvPr id="8" name="Shape 6"/>
          <p:cNvSpPr/>
          <p:nvPr/>
        </p:nvSpPr>
        <p:spPr>
          <a:xfrm>
            <a:off x="4828032" y="1005840"/>
            <a:ext cx="3968496" cy="3063240"/>
          </a:xfrm>
          <a:prstGeom prst="rect">
            <a:avLst/>
          </a:prstGeom>
          <a:solidFill>
            <a:srgbClr val="EBF5FB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4965192" y="1170432"/>
            <a:ext cx="3694176" cy="2404872"/>
          </a:xfrm>
          <a:prstGeom prst="rect">
            <a:avLst/>
          </a:prstGeom>
          <a:solidFill>
            <a:srgbClr val="D6EA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965192" y="1170432"/>
            <a:ext cx="3694176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>
              <a:buNone/>
            </a:pPr>
            <a:r>
              <a:rPr lang="en-US" sz="1600" b="1" dirty="0">
                <a:solidFill>
                  <a:srgbClr val="1C2B3A"/>
                </a:solidFill>
                <a:latin typeface="Trebuchet MS"/>
              </a:rPr>
              <a:t>Chain-of-Custody Tracker</a:t>
            </a:r>
            <a:br>
              <a:rPr lang="en-US" sz="1600" b="1" dirty="0">
                <a:solidFill>
                  <a:srgbClr val="1C2B3A"/>
                </a:solidFill>
                <a:latin typeface="Trebuchet MS"/>
              </a:rPr>
            </a:br>
            <a:br>
              <a:rPr lang="en-US" sz="1600" b="1" dirty="0">
                <a:solidFill>
                  <a:srgbClr val="1C2B3A"/>
                </a:solidFill>
                <a:latin typeface="Trebuchet MS"/>
              </a:rPr>
            </a:br>
            <a:endParaRPr lang="en-US" sz="1600" b="1" dirty="0">
              <a:solidFill>
                <a:srgbClr val="1C2B3A"/>
              </a:solidFill>
              <a:latin typeface="Trebuchet M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65192" y="2372868"/>
            <a:ext cx="3694176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12-step protocol stepper - Collection → Identity Capture → Sealing → VMS Tracking → Lab Authentication</a:t>
            </a:r>
          </a:p>
          <a:p>
            <a:pPr marL="228600" indent="-228600" algn="l"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CCTV FRS step popup — face image, match %, camera ID, operator, location per checkpoint</a:t>
            </a:r>
          </a:p>
          <a:p>
            <a:pPr marL="228600" indent="-228600" algn="l"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QR scan verification → Verified (advance) or Compromised (auto-raise NCR)</a:t>
            </a:r>
          </a:p>
        </p:txBody>
      </p:sp>
      <p:sp>
        <p:nvSpPr>
          <p:cNvPr id="12" name="Text 10"/>
          <p:cNvSpPr/>
          <p:nvPr/>
        </p:nvSpPr>
        <p:spPr>
          <a:xfrm>
            <a:off x="4828032" y="3666744"/>
            <a:ext cx="3968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/>
              </a:rPr>
              <a:t>Immutable lifecycle monitoring - every handoff biometrically verified &amp; CCTV-tagged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9E0329E-E2C3-A314-97EF-CEFA24565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24712"/>
            <a:ext cx="3769360" cy="19243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D12BF45-3230-1057-B31A-C35FA71F9B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67884"/>
            <a:ext cx="3769360" cy="150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481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u="sng" dirty="0">
                <a:solidFill>
                  <a:srgbClr val="1C2B3A"/>
                </a:solidFill>
                <a:latin typeface="Trebuchet MS"/>
              </a:rPr>
              <a:t>Feature Demo - Prep Room Receipt</a:t>
            </a:r>
          </a:p>
        </p:txBody>
      </p:sp>
      <p:sp>
        <p:nvSpPr>
          <p:cNvPr id="3" name="Shape 1"/>
          <p:cNvSpPr/>
          <p:nvPr/>
        </p:nvSpPr>
        <p:spPr>
          <a:xfrm>
            <a:off x="347472" y="1005839"/>
            <a:ext cx="4721290" cy="3510177"/>
          </a:xfrm>
          <a:prstGeom prst="rect">
            <a:avLst/>
          </a:prstGeom>
          <a:solidFill>
            <a:srgbClr val="EBF5FB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84632" y="1170432"/>
            <a:ext cx="3694176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>
              <a:buNone/>
            </a:pPr>
            <a:r>
              <a:rPr lang="en-US" sz="1100" b="1" i="1" dirty="0">
                <a:solidFill>
                  <a:srgbClr val="64748B"/>
                </a:solidFill>
                <a:latin typeface="Calibri"/>
              </a:rPr>
              <a:t>[ Screenshot Placeholder ]</a:t>
            </a:r>
          </a:p>
        </p:txBody>
      </p:sp>
      <p:sp>
        <p:nvSpPr>
          <p:cNvPr id="6" name="Text 4"/>
          <p:cNvSpPr/>
          <p:nvPr/>
        </p:nvSpPr>
        <p:spPr>
          <a:xfrm>
            <a:off x="484632" y="2372868"/>
            <a:ext cx="3694176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en-US" sz="900" i="1" dirty="0">
                <a:solidFill>
                  <a:srgbClr val="A0AEC0"/>
                </a:solidFill>
                <a:latin typeface="Calibri"/>
              </a:rPr>
              <a:t>Attach screenshot here</a:t>
            </a:r>
          </a:p>
        </p:txBody>
      </p:sp>
      <p:sp>
        <p:nvSpPr>
          <p:cNvPr id="7" name="Text 5"/>
          <p:cNvSpPr/>
          <p:nvPr/>
        </p:nvSpPr>
        <p:spPr>
          <a:xfrm>
            <a:off x="723869" y="4045847"/>
            <a:ext cx="3968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EC4899"/>
                </a:solidFill>
                <a:latin typeface="Calibri"/>
              </a:rPr>
              <a:t>05 - Preparation Room</a:t>
            </a:r>
          </a:p>
        </p:txBody>
      </p:sp>
      <p:sp>
        <p:nvSpPr>
          <p:cNvPr id="8" name="Shape 6"/>
          <p:cNvSpPr/>
          <p:nvPr/>
        </p:nvSpPr>
        <p:spPr>
          <a:xfrm>
            <a:off x="5178490" y="1005840"/>
            <a:ext cx="3618038" cy="3063240"/>
          </a:xfrm>
          <a:prstGeom prst="rect">
            <a:avLst/>
          </a:prstGeom>
          <a:solidFill>
            <a:srgbClr val="EBF5FB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262464" y="1170432"/>
            <a:ext cx="3424336" cy="2404872"/>
          </a:xfrm>
          <a:prstGeom prst="rect">
            <a:avLst/>
          </a:prstGeom>
          <a:solidFill>
            <a:srgbClr val="D6EA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965192" y="1170432"/>
            <a:ext cx="3694176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>
              <a:buNone/>
            </a:pPr>
            <a:r>
              <a:rPr lang="en-US" sz="1600" b="1" dirty="0">
                <a:solidFill>
                  <a:srgbClr val="1C2B3A"/>
                </a:solidFill>
                <a:latin typeface="Trebuchet MS"/>
              </a:rPr>
              <a:t>Prep Room Receipt</a:t>
            </a:r>
            <a:br>
              <a:rPr lang="en-US" sz="1600" b="1" dirty="0">
                <a:solidFill>
                  <a:srgbClr val="1C2B3A"/>
                </a:solidFill>
                <a:latin typeface="Trebuchet MS"/>
              </a:rPr>
            </a:br>
            <a:br>
              <a:rPr lang="en-US" sz="1600" b="1" dirty="0">
                <a:solidFill>
                  <a:srgbClr val="1C2B3A"/>
                </a:solidFill>
                <a:latin typeface="Trebuchet MS"/>
              </a:rPr>
            </a:br>
            <a:endParaRPr lang="en-US" sz="1600" b="1" dirty="0">
              <a:solidFill>
                <a:srgbClr val="1C2B3A"/>
              </a:solidFill>
              <a:latin typeface="Trebuchet M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262464" y="2372868"/>
            <a:ext cx="3396904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QR bag scanner with animated scan overlay — Verified (bag details) or Failed (raise NCR)</a:t>
            </a:r>
          </a:p>
          <a:p>
            <a:pPr marL="228600" indent="-228600" algn="l"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Seal condition log (Intact / Damaged / Missing) + CCTV video clip ID reference</a:t>
            </a:r>
          </a:p>
          <a:p>
            <a:pPr marL="228600" indent="-228600" algn="l"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Pending bag queue with accept actions; 5-step visual protocol guide</a:t>
            </a:r>
          </a:p>
        </p:txBody>
      </p:sp>
      <p:sp>
        <p:nvSpPr>
          <p:cNvPr id="12" name="Text 10"/>
          <p:cNvSpPr/>
          <p:nvPr/>
        </p:nvSpPr>
        <p:spPr>
          <a:xfrm>
            <a:off x="5262464" y="3666744"/>
            <a:ext cx="3534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/>
              </a:rPr>
              <a:t>Biometric operator capture at gate; all bags verified before entering pulverisation queue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84DAFBE-8AFE-C900-62ED-724E392DE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64" y="1110996"/>
            <a:ext cx="3042993" cy="286207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138C938-F0D4-9CD2-D46A-FEFF3DA203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5889" y="1005839"/>
            <a:ext cx="1519303" cy="2967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901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b="1" dirty="0">
                <a:solidFill>
                  <a:srgbClr val="1C2B3A"/>
                </a:solidFill>
                <a:latin typeface="Trebuchet MS"/>
              </a:rPr>
              <a:t>Feature Demo – Sample Division Station</a:t>
            </a:r>
          </a:p>
        </p:txBody>
      </p:sp>
      <p:sp>
        <p:nvSpPr>
          <p:cNvPr id="3" name="Shape 1"/>
          <p:cNvSpPr/>
          <p:nvPr/>
        </p:nvSpPr>
        <p:spPr>
          <a:xfrm>
            <a:off x="347472" y="1005840"/>
            <a:ext cx="4343400" cy="3845052"/>
          </a:xfrm>
          <a:prstGeom prst="rect">
            <a:avLst/>
          </a:prstGeom>
          <a:solidFill>
            <a:srgbClr val="EBF5FB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84632" y="1170432"/>
            <a:ext cx="3694176" cy="2404872"/>
          </a:xfrm>
          <a:prstGeom prst="rect">
            <a:avLst/>
          </a:prstGeom>
          <a:solidFill>
            <a:srgbClr val="D6EA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84632" y="1170432"/>
            <a:ext cx="3694176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>
              <a:buNone/>
            </a:pPr>
            <a:r>
              <a:rPr lang="en-US" sz="1100" b="1" i="1" dirty="0">
                <a:solidFill>
                  <a:srgbClr val="64748B"/>
                </a:solidFill>
                <a:latin typeface="Calibri"/>
              </a:rPr>
              <a:t>[ Screenshot Placeholder ]</a:t>
            </a:r>
          </a:p>
        </p:txBody>
      </p:sp>
      <p:sp>
        <p:nvSpPr>
          <p:cNvPr id="6" name="Text 4"/>
          <p:cNvSpPr/>
          <p:nvPr/>
        </p:nvSpPr>
        <p:spPr>
          <a:xfrm>
            <a:off x="484632" y="2372868"/>
            <a:ext cx="3694176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en-US" sz="900" i="1" dirty="0">
                <a:solidFill>
                  <a:srgbClr val="A0AEC0"/>
                </a:solidFill>
                <a:latin typeface="Calibri"/>
              </a:rPr>
              <a:t>Attach screenshot here</a:t>
            </a:r>
          </a:p>
        </p:txBody>
      </p:sp>
      <p:sp>
        <p:nvSpPr>
          <p:cNvPr id="7" name="Text 5"/>
          <p:cNvSpPr/>
          <p:nvPr/>
        </p:nvSpPr>
        <p:spPr>
          <a:xfrm>
            <a:off x="531285" y="4400247"/>
            <a:ext cx="3968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EA580C"/>
                </a:solidFill>
                <a:latin typeface="Calibri"/>
              </a:rPr>
              <a:t>06 - Division Station (Splitting)</a:t>
            </a:r>
          </a:p>
        </p:txBody>
      </p:sp>
      <p:sp>
        <p:nvSpPr>
          <p:cNvPr id="8" name="Shape 6"/>
          <p:cNvSpPr/>
          <p:nvPr/>
        </p:nvSpPr>
        <p:spPr>
          <a:xfrm>
            <a:off x="4828032" y="1005840"/>
            <a:ext cx="3968496" cy="3063240"/>
          </a:xfrm>
          <a:prstGeom prst="rect">
            <a:avLst/>
          </a:prstGeom>
          <a:solidFill>
            <a:srgbClr val="EBF5FB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965192" y="1170432"/>
            <a:ext cx="3694176" cy="2404872"/>
          </a:xfrm>
          <a:prstGeom prst="rect">
            <a:avLst/>
          </a:prstGeom>
          <a:solidFill>
            <a:srgbClr val="D6EA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965192" y="1170432"/>
            <a:ext cx="3694176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>
              <a:buNone/>
            </a:pPr>
            <a:r>
              <a:rPr lang="en-US" sz="1600" b="1" dirty="0">
                <a:solidFill>
                  <a:srgbClr val="1C2B3A"/>
                </a:solidFill>
                <a:latin typeface="Trebuchet MS"/>
              </a:rPr>
              <a:t>Sample Division Station</a:t>
            </a:r>
            <a:br>
              <a:rPr lang="en-US" sz="1600" b="1" dirty="0">
                <a:solidFill>
                  <a:srgbClr val="1C2B3A"/>
                </a:solidFill>
                <a:latin typeface="Trebuchet MS"/>
              </a:rPr>
            </a:br>
            <a:br>
              <a:rPr lang="en-US" sz="1600" b="1" dirty="0">
                <a:solidFill>
                  <a:srgbClr val="1C2B3A"/>
                </a:solidFill>
                <a:latin typeface="Trebuchet MS"/>
              </a:rPr>
            </a:br>
            <a:endParaRPr lang="en-US" sz="1600" b="1" dirty="0">
              <a:solidFill>
                <a:srgbClr val="1C2B3A"/>
              </a:solidFill>
              <a:latin typeface="Trebuchet M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65192" y="2372868"/>
            <a:ext cx="3694176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3-phase workflow - Parent Seal Integrity → Pulverisation Log → Small Bagging</a:t>
            </a:r>
          </a:p>
          <a:p>
            <a:pPr marL="228600" indent="-228600" algn="l"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Live CCTV feed with face ID overlay during splitting; OCR &amp; seal verification status</a:t>
            </a:r>
          </a:p>
          <a:p>
            <a:pPr marL="228600" indent="-228600" algn="l"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Child QR seal generation for Sample A, B, Referee, D, E - weight + operator per bag</a:t>
            </a:r>
          </a:p>
        </p:txBody>
      </p:sp>
      <p:sp>
        <p:nvSpPr>
          <p:cNvPr id="12" name="Text 10"/>
          <p:cNvSpPr/>
          <p:nvPr/>
        </p:nvSpPr>
        <p:spPr>
          <a:xfrm>
            <a:off x="4828032" y="3666744"/>
            <a:ext cx="3968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/>
              </a:rPr>
              <a:t>Parent sample mathematically linked to all child bags - every split recorded &amp; sealed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24FD063-44D9-206E-3E7A-5C20D82A7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170431"/>
            <a:ext cx="4087368" cy="322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358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u="sng" dirty="0">
                <a:solidFill>
                  <a:srgbClr val="1C2B3A"/>
                </a:solidFill>
                <a:latin typeface="Trebuchet MS"/>
              </a:rPr>
              <a:t>Feature Demo - Lab Receiving &amp; Authentication</a:t>
            </a:r>
          </a:p>
        </p:txBody>
      </p:sp>
      <p:sp>
        <p:nvSpPr>
          <p:cNvPr id="3" name="Shape 1"/>
          <p:cNvSpPr/>
          <p:nvPr/>
        </p:nvSpPr>
        <p:spPr>
          <a:xfrm>
            <a:off x="347472" y="1005840"/>
            <a:ext cx="4343400" cy="3986038"/>
          </a:xfrm>
          <a:prstGeom prst="rect">
            <a:avLst/>
          </a:prstGeom>
          <a:solidFill>
            <a:srgbClr val="EBF5FB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84632" y="1170432"/>
            <a:ext cx="3694176" cy="2404872"/>
          </a:xfrm>
          <a:prstGeom prst="rect">
            <a:avLst/>
          </a:prstGeom>
          <a:solidFill>
            <a:srgbClr val="D6EA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84632" y="1170432"/>
            <a:ext cx="3694176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>
              <a:buNone/>
            </a:pPr>
            <a:r>
              <a:rPr lang="en-US" sz="1100" b="1" i="1" dirty="0">
                <a:solidFill>
                  <a:srgbClr val="64748B"/>
                </a:solidFill>
                <a:latin typeface="Calibri"/>
              </a:rPr>
              <a:t>[ Screenshot Placeholder ]</a:t>
            </a:r>
          </a:p>
        </p:txBody>
      </p:sp>
      <p:sp>
        <p:nvSpPr>
          <p:cNvPr id="6" name="Text 4"/>
          <p:cNvSpPr/>
          <p:nvPr/>
        </p:nvSpPr>
        <p:spPr>
          <a:xfrm>
            <a:off x="484632" y="2372868"/>
            <a:ext cx="3694176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en-US" sz="900" i="1" dirty="0">
                <a:solidFill>
                  <a:srgbClr val="A0AEC0"/>
                </a:solidFill>
                <a:latin typeface="Calibri"/>
              </a:rPr>
              <a:t>Attach screenshot here</a:t>
            </a:r>
          </a:p>
        </p:txBody>
      </p:sp>
      <p:sp>
        <p:nvSpPr>
          <p:cNvPr id="7" name="Text 5"/>
          <p:cNvSpPr/>
          <p:nvPr/>
        </p:nvSpPr>
        <p:spPr>
          <a:xfrm>
            <a:off x="534924" y="4524134"/>
            <a:ext cx="3968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/>
              </a:rPr>
              <a:t>07 - Lab Receiving &amp; Authentication</a:t>
            </a:r>
          </a:p>
        </p:txBody>
      </p:sp>
      <p:sp>
        <p:nvSpPr>
          <p:cNvPr id="8" name="Shape 6"/>
          <p:cNvSpPr/>
          <p:nvPr/>
        </p:nvSpPr>
        <p:spPr>
          <a:xfrm>
            <a:off x="4828032" y="1005840"/>
            <a:ext cx="3968496" cy="3063240"/>
          </a:xfrm>
          <a:prstGeom prst="rect">
            <a:avLst/>
          </a:prstGeom>
          <a:solidFill>
            <a:srgbClr val="EBF5FB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965192" y="1170432"/>
            <a:ext cx="3694176" cy="2404872"/>
          </a:xfrm>
          <a:prstGeom prst="rect">
            <a:avLst/>
          </a:prstGeom>
          <a:solidFill>
            <a:srgbClr val="D6EA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965192" y="1170432"/>
            <a:ext cx="3694176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>
              <a:buNone/>
            </a:pPr>
            <a:r>
              <a:rPr lang="en-US" sz="1600" b="1" dirty="0">
                <a:solidFill>
                  <a:srgbClr val="1C2B3A"/>
                </a:solidFill>
                <a:latin typeface="Trebuchet MS"/>
              </a:rPr>
              <a:t>Lab Receiving &amp; Authentication</a:t>
            </a:r>
          </a:p>
          <a:p>
            <a:pPr algn="ctr">
              <a:buNone/>
            </a:pPr>
            <a:endParaRPr lang="en-US" sz="1600" b="1" dirty="0">
              <a:solidFill>
                <a:srgbClr val="1C2B3A"/>
              </a:solidFill>
              <a:latin typeface="Trebuchet MS"/>
            </a:endParaRPr>
          </a:p>
          <a:p>
            <a:pPr algn="ctr">
              <a:buNone/>
            </a:pPr>
            <a:endParaRPr lang="en-US" sz="1600" b="1" dirty="0">
              <a:solidFill>
                <a:srgbClr val="1C2B3A"/>
              </a:solidFill>
              <a:latin typeface="Trebuchet M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65192" y="2372868"/>
            <a:ext cx="3694176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Scan sub-sample ID; Receipt Record — Lab Receiver, Receipt Time, Acceptance Status</a:t>
            </a:r>
          </a:p>
          <a:p>
            <a:pPr marL="228600" indent="-228600" algn="l"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Visual Condition check: Intact / Seal-Damaged / Label-Damaged before confirmation</a:t>
            </a:r>
          </a:p>
          <a:p>
            <a:pPr marL="228600" indent="-228600" algn="l"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Pending receipts table; quick actions for Weight Mismatch &amp; Damaged Seal flags</a:t>
            </a:r>
          </a:p>
        </p:txBody>
      </p:sp>
      <p:sp>
        <p:nvSpPr>
          <p:cNvPr id="12" name="Text 10"/>
          <p:cNvSpPr/>
          <p:nvPr/>
        </p:nvSpPr>
        <p:spPr>
          <a:xfrm>
            <a:off x="4828032" y="3666744"/>
            <a:ext cx="3968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/>
              </a:rPr>
              <a:t>Final verification gate - sub-sample confirmed ready for analysis only after full check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6681B30-62A9-1ADC-43FD-A2FEC0B53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215" y="1170432"/>
            <a:ext cx="4134785" cy="319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33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u="sng" dirty="0">
                <a:solidFill>
                  <a:srgbClr val="1C2B3A"/>
                </a:solidFill>
                <a:latin typeface="Trebuchet MS"/>
              </a:rPr>
              <a:t>Feature Demo - NCR, Audit Trail &amp; Reports</a:t>
            </a:r>
          </a:p>
        </p:txBody>
      </p:sp>
      <p:sp>
        <p:nvSpPr>
          <p:cNvPr id="3" name="Shape 1"/>
          <p:cNvSpPr/>
          <p:nvPr/>
        </p:nvSpPr>
        <p:spPr>
          <a:xfrm>
            <a:off x="347472" y="1005840"/>
            <a:ext cx="4343400" cy="3995368"/>
          </a:xfrm>
          <a:prstGeom prst="rect">
            <a:avLst/>
          </a:prstGeom>
          <a:solidFill>
            <a:srgbClr val="EBF5FB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84632" y="1170432"/>
            <a:ext cx="3694176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>
              <a:buNone/>
            </a:pPr>
            <a:r>
              <a:rPr lang="en-US" sz="1100" b="1" i="1" dirty="0">
                <a:solidFill>
                  <a:srgbClr val="64748B"/>
                </a:solidFill>
                <a:latin typeface="Calibri"/>
              </a:rPr>
              <a:t>[ Screenshot Placeholder ]</a:t>
            </a:r>
          </a:p>
        </p:txBody>
      </p:sp>
      <p:sp>
        <p:nvSpPr>
          <p:cNvPr id="6" name="Text 4"/>
          <p:cNvSpPr/>
          <p:nvPr/>
        </p:nvSpPr>
        <p:spPr>
          <a:xfrm>
            <a:off x="484632" y="2372868"/>
            <a:ext cx="3694176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en-US" sz="900" i="1" dirty="0">
                <a:solidFill>
                  <a:srgbClr val="A0AEC0"/>
                </a:solidFill>
                <a:latin typeface="Calibri"/>
              </a:rPr>
              <a:t>Attach screenshot here</a:t>
            </a:r>
          </a:p>
        </p:txBody>
      </p:sp>
      <p:sp>
        <p:nvSpPr>
          <p:cNvPr id="7" name="Text 5"/>
          <p:cNvSpPr/>
          <p:nvPr/>
        </p:nvSpPr>
        <p:spPr>
          <a:xfrm>
            <a:off x="484632" y="4681774"/>
            <a:ext cx="3968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/>
              </a:rPr>
              <a:t>08 - Quality &amp; Compliance (NCR / Audit)</a:t>
            </a:r>
          </a:p>
        </p:txBody>
      </p:sp>
      <p:sp>
        <p:nvSpPr>
          <p:cNvPr id="8" name="Shape 6"/>
          <p:cNvSpPr/>
          <p:nvPr/>
        </p:nvSpPr>
        <p:spPr>
          <a:xfrm>
            <a:off x="4828032" y="1005840"/>
            <a:ext cx="3968496" cy="3063240"/>
          </a:xfrm>
          <a:prstGeom prst="rect">
            <a:avLst/>
          </a:prstGeom>
          <a:solidFill>
            <a:srgbClr val="EBF5FB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965192" y="1170432"/>
            <a:ext cx="3694176" cy="2404872"/>
          </a:xfrm>
          <a:prstGeom prst="rect">
            <a:avLst/>
          </a:prstGeom>
          <a:solidFill>
            <a:srgbClr val="D6EA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965192" y="1170432"/>
            <a:ext cx="3694176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>
              <a:buNone/>
            </a:pPr>
            <a:r>
              <a:rPr lang="en-US" sz="1600" b="1" dirty="0">
                <a:solidFill>
                  <a:srgbClr val="1C2B3A"/>
                </a:solidFill>
                <a:latin typeface="Trebuchet MS"/>
              </a:rPr>
              <a:t>NCR, Audit Trail &amp; Reports</a:t>
            </a:r>
            <a:br>
              <a:rPr lang="en-US" sz="1600" b="1" dirty="0">
                <a:solidFill>
                  <a:srgbClr val="1C2B3A"/>
                </a:solidFill>
                <a:latin typeface="Trebuchet MS"/>
              </a:rPr>
            </a:br>
            <a:br>
              <a:rPr lang="en-US" sz="1600" b="1" dirty="0">
                <a:solidFill>
                  <a:srgbClr val="1C2B3A"/>
                </a:solidFill>
                <a:latin typeface="Trebuchet MS"/>
              </a:rPr>
            </a:br>
            <a:endParaRPr lang="en-US" sz="1600" b="1" dirty="0">
              <a:solidFill>
                <a:srgbClr val="1C2B3A"/>
              </a:solidFill>
              <a:latin typeface="Trebuchet M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65192" y="2372868"/>
            <a:ext cx="3694176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NCR form - Consignment ID, Reporting Authority, Category (Seal / Mass / Foreign / Admin)</a:t>
            </a:r>
          </a:p>
          <a:p>
            <a:pPr marL="228600" indent="-228600" algn="l"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Inline NCR modal raisable from any screen - auto-detects current stage &amp; consignment</a:t>
            </a:r>
          </a:p>
          <a:p>
            <a:pPr marL="228600" indent="-228600" algn="l"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Audit History &amp; Report Builder - full event log with operator, timestamp, location</a:t>
            </a:r>
          </a:p>
        </p:txBody>
      </p:sp>
      <p:sp>
        <p:nvSpPr>
          <p:cNvPr id="12" name="Text 10"/>
          <p:cNvSpPr/>
          <p:nvPr/>
        </p:nvSpPr>
        <p:spPr>
          <a:xfrm>
            <a:off x="4828032" y="3666744"/>
            <a:ext cx="3968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/>
              </a:rPr>
              <a:t>Zero-gap exception handling - every violation captured, tagged &amp; traceable to source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EEF86F0-87D2-6F31-2A62-698D5D93A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1" y="1154663"/>
            <a:ext cx="4155949" cy="183164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CCD7A71-1FF0-DF9F-C482-5B5E4EEC0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105181"/>
            <a:ext cx="4087368" cy="153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718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u="sng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2400" u="sng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5D64729-95E9-4217-C507-71F3306BC4AA}"/>
              </a:ext>
            </a:extLst>
          </p:cNvPr>
          <p:cNvGrpSpPr/>
          <p:nvPr/>
        </p:nvGrpSpPr>
        <p:grpSpPr>
          <a:xfrm>
            <a:off x="347472" y="1133856"/>
            <a:ext cx="5596128" cy="667512"/>
            <a:chOff x="347472" y="1133856"/>
            <a:chExt cx="5596128" cy="667512"/>
          </a:xfrm>
        </p:grpSpPr>
        <p:sp>
          <p:nvSpPr>
            <p:cNvPr id="3" name="Shape 1"/>
            <p:cNvSpPr/>
            <p:nvPr/>
          </p:nvSpPr>
          <p:spPr>
            <a:xfrm>
              <a:off x="347472" y="1197864"/>
              <a:ext cx="402336" cy="402336"/>
            </a:xfrm>
            <a:prstGeom prst="ellipse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 2"/>
            <p:cNvSpPr/>
            <p:nvPr/>
          </p:nvSpPr>
          <p:spPr>
            <a:xfrm>
              <a:off x="347472" y="1197864"/>
              <a:ext cx="402336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1</a:t>
              </a:r>
              <a:endParaRPr lang="en-US" sz="12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868680" y="1133856"/>
              <a:ext cx="50749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C2B3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Tamper-Evident QR Seals</a:t>
              </a:r>
              <a:endParaRPr lang="en-US" sz="13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868680" y="1417320"/>
              <a:ext cx="5074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Unique, one-time-use QR codes affixed at the collection point. Physical tampering breaks the seal and invalidates the code instantly.</a:t>
              </a:r>
              <a:endParaRPr lang="en-US" sz="10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BC198F9-08B7-5B35-7745-4C45B2628119}"/>
              </a:ext>
            </a:extLst>
          </p:cNvPr>
          <p:cNvGrpSpPr/>
          <p:nvPr/>
        </p:nvGrpSpPr>
        <p:grpSpPr>
          <a:xfrm>
            <a:off x="347472" y="1883664"/>
            <a:ext cx="5596128" cy="667512"/>
            <a:chOff x="347472" y="1883664"/>
            <a:chExt cx="5596128" cy="667512"/>
          </a:xfrm>
        </p:grpSpPr>
        <p:sp>
          <p:nvSpPr>
            <p:cNvPr id="7" name="Shape 5"/>
            <p:cNvSpPr/>
            <p:nvPr/>
          </p:nvSpPr>
          <p:spPr>
            <a:xfrm>
              <a:off x="347472" y="1947672"/>
              <a:ext cx="402336" cy="402336"/>
            </a:xfrm>
            <a:prstGeom prst="ellipse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 6"/>
            <p:cNvSpPr/>
            <p:nvPr/>
          </p:nvSpPr>
          <p:spPr>
            <a:xfrm>
              <a:off x="347472" y="1947672"/>
              <a:ext cx="402336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2</a:t>
              </a:r>
              <a:endParaRPr lang="en-US" sz="12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868680" y="1883664"/>
              <a:ext cx="50749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C2B3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Multi-Point Checkpoint Scanning</a:t>
              </a:r>
              <a:endParaRPr lang="en-US" sz="13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868680" y="2167128"/>
              <a:ext cx="5074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Designated scan stations record every custody handoff with timestamps and personnel IDs throughout the sample journey.</a:t>
              </a:r>
              <a:endParaRPr lang="en-US" sz="1000" dirty="0"/>
            </a:p>
          </p:txBody>
        </p:sp>
      </p:grpSp>
      <p:sp>
        <p:nvSpPr>
          <p:cNvPr id="11" name="Shape 9"/>
          <p:cNvSpPr/>
          <p:nvPr/>
        </p:nvSpPr>
        <p:spPr>
          <a:xfrm>
            <a:off x="347472" y="269748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47472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633472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VMS Face Analytics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916936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video management system automatically identifies and logs personnel who come into contact with each sample.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3447288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5963BE1-991C-63B0-E84C-E28CC126BCE3}"/>
              </a:ext>
            </a:extLst>
          </p:cNvPr>
          <p:cNvGrpSpPr/>
          <p:nvPr/>
        </p:nvGrpSpPr>
        <p:grpSpPr>
          <a:xfrm>
            <a:off x="352891" y="3383280"/>
            <a:ext cx="5590709" cy="667512"/>
            <a:chOff x="352891" y="3383280"/>
            <a:chExt cx="5590709" cy="667512"/>
          </a:xfrm>
        </p:grpSpPr>
        <p:sp>
          <p:nvSpPr>
            <p:cNvPr id="16" name="Text 14"/>
            <p:cNvSpPr/>
            <p:nvPr/>
          </p:nvSpPr>
          <p:spPr>
            <a:xfrm>
              <a:off x="352891" y="3463205"/>
              <a:ext cx="402336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4</a:t>
              </a:r>
              <a:endParaRPr lang="en-US" sz="12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868680" y="3383280"/>
              <a:ext cx="50749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C2B3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End-to-End Movement Tracking</a:t>
              </a:r>
              <a:endParaRPr lang="en-US" sz="13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868680" y="3666744"/>
              <a:ext cx="5074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Every location the sample passes through — from pit to lab — is mapped and logged in a tamper-proof audit record.</a:t>
              </a:r>
              <a:endParaRPr lang="en-US" sz="1000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0F4214B-ADEF-E244-FD2B-1CD436807F16}"/>
              </a:ext>
            </a:extLst>
          </p:cNvPr>
          <p:cNvGrpSpPr/>
          <p:nvPr/>
        </p:nvGrpSpPr>
        <p:grpSpPr>
          <a:xfrm>
            <a:off x="347472" y="4133088"/>
            <a:ext cx="5596128" cy="667512"/>
            <a:chOff x="347472" y="4133088"/>
            <a:chExt cx="5596128" cy="667512"/>
          </a:xfrm>
        </p:grpSpPr>
        <p:sp>
          <p:nvSpPr>
            <p:cNvPr id="19" name="Shape 17"/>
            <p:cNvSpPr/>
            <p:nvPr/>
          </p:nvSpPr>
          <p:spPr>
            <a:xfrm>
              <a:off x="347472" y="4197096"/>
              <a:ext cx="402336" cy="402336"/>
            </a:xfrm>
            <a:prstGeom prst="ellipse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 18"/>
            <p:cNvSpPr/>
            <p:nvPr/>
          </p:nvSpPr>
          <p:spPr>
            <a:xfrm>
              <a:off x="347472" y="4197096"/>
              <a:ext cx="402336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5</a:t>
              </a:r>
              <a:endParaRPr lang="en-US" sz="12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868680" y="4133088"/>
              <a:ext cx="50749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C2B3A"/>
                  </a:solidFill>
                  <a:latin typeface="Trebuchet MS" pitchFamily="34" charset="0"/>
                </a:rPr>
                <a:t>Non-Conformance Reports (NCR)</a:t>
              </a:r>
            </a:p>
          </p:txBody>
        </p:sp>
        <p:sp>
          <p:nvSpPr>
            <p:cNvPr id="22" name="Text 20"/>
            <p:cNvSpPr/>
            <p:nvPr/>
          </p:nvSpPr>
          <p:spPr>
            <a:xfrm>
              <a:off x="868680" y="4416552"/>
              <a:ext cx="5074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</a:rPr>
                <a:t>Raise an NCR from any screen at any stage — auto-tagged to the consignment, phase, and operator responsible.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11D2301-9F47-6D78-DD50-802E3CBA48E7}"/>
              </a:ext>
            </a:extLst>
          </p:cNvPr>
          <p:cNvGrpSpPr/>
          <p:nvPr/>
        </p:nvGrpSpPr>
        <p:grpSpPr>
          <a:xfrm>
            <a:off x="6309360" y="1078992"/>
            <a:ext cx="2487168" cy="3566160"/>
            <a:chOff x="6309360" y="1078992"/>
            <a:chExt cx="2487168" cy="3566160"/>
          </a:xfrm>
        </p:grpSpPr>
        <p:sp>
          <p:nvSpPr>
            <p:cNvPr id="23" name="Shape 21"/>
            <p:cNvSpPr/>
            <p:nvPr/>
          </p:nvSpPr>
          <p:spPr>
            <a:xfrm>
              <a:off x="6309360" y="1078992"/>
              <a:ext cx="2487168" cy="3566160"/>
            </a:xfrm>
            <a:prstGeom prst="rect">
              <a:avLst/>
            </a:prstGeom>
            <a:solidFill>
              <a:srgbClr val="1C2B3A"/>
            </a:solidFill>
            <a:ln w="12700">
              <a:solidFill>
                <a:srgbClr val="1C2B3A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Shape 23"/>
            <p:cNvSpPr/>
            <p:nvPr/>
          </p:nvSpPr>
          <p:spPr>
            <a:xfrm>
              <a:off x="6720840" y="2816352"/>
              <a:ext cx="1664208" cy="1664208"/>
            </a:xfrm>
            <a:prstGeom prst="ellipse">
              <a:avLst/>
            </a:prstGeom>
            <a:solidFill>
              <a:srgbClr val="0D9488">
                <a:alpha val="85000"/>
              </a:srgbClr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41FA6D11-2FD5-6F97-00C6-3A84F6FFA7B7}"/>
                </a:ext>
              </a:extLst>
            </p:cNvPr>
            <p:cNvGrpSpPr/>
            <p:nvPr/>
          </p:nvGrpSpPr>
          <p:grpSpPr>
            <a:xfrm>
              <a:off x="6309360" y="1399032"/>
              <a:ext cx="2487168" cy="3081528"/>
              <a:chOff x="6309360" y="1399032"/>
              <a:chExt cx="2487168" cy="3081528"/>
            </a:xfrm>
          </p:grpSpPr>
          <p:sp>
            <p:nvSpPr>
              <p:cNvPr id="24" name="Text 22"/>
              <p:cNvSpPr/>
              <p:nvPr/>
            </p:nvSpPr>
            <p:spPr>
              <a:xfrm>
                <a:off x="6309360" y="1399032"/>
                <a:ext cx="2487168" cy="12344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b="1" dirty="0">
                    <a:solidFill>
                      <a:srgbClr val="FFFFFF"/>
                    </a:solidFill>
                    <a:ea typeface="Trebuchet MS" pitchFamily="34" charset="-122"/>
                    <a:cs typeface="Trebuchet MS" pitchFamily="34" charset="-120"/>
                  </a:rPr>
                  <a:t>Complete</a:t>
                </a:r>
                <a:endParaRPr lang="en-US" dirty="0"/>
              </a:p>
              <a:p>
                <a:pPr marL="0" indent="0" algn="ctr">
                  <a:buNone/>
                </a:pPr>
                <a:r>
                  <a:rPr lang="en-US" b="1" dirty="0">
                    <a:solidFill>
                      <a:srgbClr val="FFFFFF"/>
                    </a:solidFill>
                    <a:ea typeface="Trebuchet MS" pitchFamily="34" charset="-122"/>
                    <a:cs typeface="Trebuchet MS" pitchFamily="34" charset="-120"/>
                  </a:rPr>
                  <a:t>Anti-Adulteration</a:t>
                </a:r>
                <a:endParaRPr lang="en-US" dirty="0"/>
              </a:p>
              <a:p>
                <a:pPr marL="0" indent="0" algn="ctr">
                  <a:buNone/>
                </a:pPr>
                <a:r>
                  <a:rPr lang="en-US" b="1" dirty="0">
                    <a:solidFill>
                      <a:srgbClr val="FFFFFF"/>
                    </a:solidFill>
                    <a:ea typeface="Trebuchet MS" pitchFamily="34" charset="-122"/>
                    <a:cs typeface="Trebuchet MS" pitchFamily="34" charset="-120"/>
                  </a:rPr>
                  <a:t>Coverage</a:t>
                </a:r>
                <a:endParaRPr lang="en-US" dirty="0"/>
              </a:p>
            </p:txBody>
          </p:sp>
          <p:sp>
            <p:nvSpPr>
              <p:cNvPr id="26" name="Text 24"/>
              <p:cNvSpPr/>
              <p:nvPr/>
            </p:nvSpPr>
            <p:spPr>
              <a:xfrm>
                <a:off x="6720840" y="2816352"/>
                <a:ext cx="1664208" cy="16642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400" b="1" dirty="0">
                    <a:solidFill>
                      <a:srgbClr val="FFFFFF"/>
                    </a:solidFill>
                    <a:latin typeface="Trebuchet MS" pitchFamily="34" charset="0"/>
                  </a:rPr>
                  <a:t>6 Stages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06858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u="sng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2400" u="sng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9930A06-DD29-D3B1-0076-5A8116D1633B}"/>
              </a:ext>
            </a:extLst>
          </p:cNvPr>
          <p:cNvGrpSpPr/>
          <p:nvPr/>
        </p:nvGrpSpPr>
        <p:grpSpPr>
          <a:xfrm>
            <a:off x="444492" y="1481328"/>
            <a:ext cx="7978140" cy="1591056"/>
            <a:chOff x="342900" y="1481328"/>
            <a:chExt cx="7978140" cy="1591056"/>
          </a:xfrm>
        </p:grpSpPr>
        <p:sp>
          <p:nvSpPr>
            <p:cNvPr id="3" name="Shape 1"/>
            <p:cNvSpPr/>
            <p:nvPr/>
          </p:nvSpPr>
          <p:spPr>
            <a:xfrm>
              <a:off x="822960" y="2926080"/>
              <a:ext cx="7498080" cy="0"/>
            </a:xfrm>
            <a:prstGeom prst="line">
              <a:avLst/>
            </a:prstGeom>
            <a:noFill/>
            <a:ln w="317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Shape 2"/>
            <p:cNvSpPr/>
            <p:nvPr/>
          </p:nvSpPr>
          <p:spPr>
            <a:xfrm>
              <a:off x="1042416" y="2779776"/>
              <a:ext cx="292608" cy="292608"/>
            </a:xfrm>
            <a:prstGeom prst="ellipse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Shape 3"/>
            <p:cNvSpPr/>
            <p:nvPr/>
          </p:nvSpPr>
          <p:spPr>
            <a:xfrm>
              <a:off x="1188720" y="2560320"/>
              <a:ext cx="0" cy="365760"/>
            </a:xfrm>
            <a:prstGeom prst="line">
              <a:avLst/>
            </a:prstGeom>
            <a:noFill/>
            <a:ln w="1905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 4"/>
            <p:cNvSpPr/>
            <p:nvPr/>
          </p:nvSpPr>
          <p:spPr>
            <a:xfrm>
              <a:off x="342900" y="1481328"/>
              <a:ext cx="1691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1</a:t>
              </a:r>
              <a:endParaRPr lang="en-US" sz="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42900" y="1755648"/>
              <a:ext cx="1691640" cy="804672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 6"/>
            <p:cNvSpPr/>
            <p:nvPr/>
          </p:nvSpPr>
          <p:spPr>
            <a:xfrm>
              <a:off x="342900" y="1755648"/>
              <a:ext cx="1691640" cy="8046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rebuchet MS" pitchFamily="34" charset="0"/>
                </a:rPr>
                <a:t>UI Prototype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rebuchet MS" pitchFamily="34" charset="0"/>
                </a:rPr>
                <a:t>Validation</a:t>
              </a:r>
            </a:p>
          </p:txBody>
        </p:sp>
        <p:sp>
          <p:nvSpPr>
            <p:cNvPr id="10" name="Shape 8"/>
            <p:cNvSpPr/>
            <p:nvPr/>
          </p:nvSpPr>
          <p:spPr>
            <a:xfrm>
              <a:off x="3054096" y="2779776"/>
              <a:ext cx="292608" cy="292608"/>
            </a:xfrm>
            <a:prstGeom prst="ellipse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Shape 9"/>
            <p:cNvSpPr/>
            <p:nvPr/>
          </p:nvSpPr>
          <p:spPr>
            <a:xfrm>
              <a:off x="3200400" y="2560320"/>
              <a:ext cx="0" cy="365760"/>
            </a:xfrm>
            <a:prstGeom prst="line">
              <a:avLst/>
            </a:prstGeom>
            <a:noFill/>
            <a:ln w="1905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 10"/>
            <p:cNvSpPr/>
            <p:nvPr/>
          </p:nvSpPr>
          <p:spPr>
            <a:xfrm>
              <a:off x="2354580" y="1481328"/>
              <a:ext cx="1691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D94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2</a:t>
              </a:r>
              <a:endParaRPr lang="en-US" sz="9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2354580" y="1755648"/>
              <a:ext cx="1691640" cy="804672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 12"/>
            <p:cNvSpPr/>
            <p:nvPr/>
          </p:nvSpPr>
          <p:spPr>
            <a:xfrm>
              <a:off x="2354580" y="1755648"/>
              <a:ext cx="1691640" cy="8046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rebuchet MS" pitchFamily="34" charset="0"/>
                </a:rPr>
                <a:t>Backend &amp;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rebuchet MS" pitchFamily="34" charset="0"/>
                </a:rPr>
                <a:t>VMS Integration</a:t>
              </a:r>
            </a:p>
          </p:txBody>
        </p:sp>
        <p:sp>
          <p:nvSpPr>
            <p:cNvPr id="16" name="Shape 14"/>
            <p:cNvSpPr/>
            <p:nvPr/>
          </p:nvSpPr>
          <p:spPr>
            <a:xfrm>
              <a:off x="5065776" y="2779776"/>
              <a:ext cx="292608" cy="292608"/>
            </a:xfrm>
            <a:prstGeom prst="ellipse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Shape 15"/>
            <p:cNvSpPr/>
            <p:nvPr/>
          </p:nvSpPr>
          <p:spPr>
            <a:xfrm>
              <a:off x="5212080" y="2560320"/>
              <a:ext cx="0" cy="365760"/>
            </a:xfrm>
            <a:prstGeom prst="line">
              <a:avLst/>
            </a:prstGeom>
            <a:noFill/>
            <a:ln w="1905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 16"/>
            <p:cNvSpPr/>
            <p:nvPr/>
          </p:nvSpPr>
          <p:spPr>
            <a:xfrm>
              <a:off x="4366260" y="1481328"/>
              <a:ext cx="1691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3</a:t>
              </a:r>
              <a:endParaRPr lang="en-US" sz="9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4366260" y="1755648"/>
              <a:ext cx="1691640" cy="804672"/>
            </a:xfrm>
            <a:prstGeom prst="rect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 18"/>
            <p:cNvSpPr/>
            <p:nvPr/>
          </p:nvSpPr>
          <p:spPr>
            <a:xfrm>
              <a:off x="4366260" y="1755648"/>
              <a:ext cx="1691640" cy="8046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rebuchet MS" pitchFamily="34" charset="0"/>
                </a:rPr>
                <a:t>CCTV &amp; FRS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rebuchet MS" pitchFamily="34" charset="0"/>
                </a:rPr>
                <a:t>Live Deployment</a:t>
              </a:r>
            </a:p>
          </p:txBody>
        </p:sp>
        <p:sp>
          <p:nvSpPr>
            <p:cNvPr id="22" name="Shape 20"/>
            <p:cNvSpPr/>
            <p:nvPr/>
          </p:nvSpPr>
          <p:spPr>
            <a:xfrm>
              <a:off x="7077456" y="2779776"/>
              <a:ext cx="292608" cy="292608"/>
            </a:xfrm>
            <a:prstGeom prst="ellipse">
              <a:avLst/>
            </a:prstGeom>
            <a:solidFill>
              <a:srgbClr val="1C2B3A"/>
            </a:solidFill>
            <a:ln w="12700">
              <a:solidFill>
                <a:srgbClr val="1C2B3A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Shape 21"/>
            <p:cNvSpPr/>
            <p:nvPr/>
          </p:nvSpPr>
          <p:spPr>
            <a:xfrm>
              <a:off x="7223760" y="2560320"/>
              <a:ext cx="0" cy="365760"/>
            </a:xfrm>
            <a:prstGeom prst="line">
              <a:avLst/>
            </a:prstGeom>
            <a:noFill/>
            <a:ln w="19050">
              <a:solidFill>
                <a:srgbClr val="1C2B3A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 22"/>
            <p:cNvSpPr/>
            <p:nvPr/>
          </p:nvSpPr>
          <p:spPr>
            <a:xfrm>
              <a:off x="6377940" y="1481328"/>
              <a:ext cx="1691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1C2B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 4</a:t>
              </a:r>
              <a:endParaRPr lang="en-US" sz="9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6377940" y="1755648"/>
              <a:ext cx="1691640" cy="804672"/>
            </a:xfrm>
            <a:prstGeom prst="rect">
              <a:avLst/>
            </a:prstGeom>
            <a:solidFill>
              <a:srgbClr val="1C2B3A"/>
            </a:solidFill>
            <a:ln w="12700">
              <a:solidFill>
                <a:srgbClr val="1C2B3A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 24"/>
            <p:cNvSpPr/>
            <p:nvPr/>
          </p:nvSpPr>
          <p:spPr>
            <a:xfrm>
              <a:off x="6377940" y="1755648"/>
              <a:ext cx="1691640" cy="8046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Analytics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Dashboard</a:t>
              </a:r>
              <a:endParaRPr lang="en-US" sz="1200" dirty="0"/>
            </a:p>
          </p:txBody>
        </p:sp>
      </p:grpSp>
      <p:sp>
        <p:nvSpPr>
          <p:cNvPr id="28" name="Text 26"/>
          <p:cNvSpPr/>
          <p:nvPr/>
        </p:nvSpPr>
        <p:spPr>
          <a:xfrm>
            <a:off x="342900" y="3593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Beyond Phase 4: API integration with government regulatory portals, CIL subsidiary systems, and third-party coal quality certification bodies.</a:t>
            </a:r>
          </a:p>
        </p:txBody>
      </p:sp>
    </p:spTree>
    <p:extLst>
      <p:ext uri="{BB962C8B-B14F-4D97-AF65-F5344CB8AC3E}">
        <p14:creationId xmlns:p14="http://schemas.microsoft.com/office/powerpoint/2010/main" val="2415617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097280" y="3474720"/>
            <a:ext cx="2743200" cy="27432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108960" y="3182112"/>
            <a:ext cx="29260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 Access Pvt Ltd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0" dirty="0">
                <a:solidFill>
                  <a:srgbClr val="2D3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 S A A 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0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386BF45-D1DC-4BA3-B247-CE62262D1E15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3fc83059-55e5-45a9-9a9e-0220054d78f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1042</Words>
  <Application>Microsoft Office PowerPoint</Application>
  <PresentationFormat>On-screen Show (16:9)</PresentationFormat>
  <Paragraphs>162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CSAAS – Coal Sample Anti-Adulteration System</dc:title>
  <dc:subject>Client Presentation – May 2026</dc:subject>
  <dc:creator>VL Access Pvt Ltd</dc:creator>
  <cp:lastModifiedBy>Sudhansu Sekhar</cp:lastModifiedBy>
  <cp:revision>10</cp:revision>
  <dcterms:created xsi:type="dcterms:W3CDTF">2026-05-19T08:35:15Z</dcterms:created>
  <dcterms:modified xsi:type="dcterms:W3CDTF">2026-05-20T07:14:14Z</dcterms:modified>
</cp:coreProperties>
</file>