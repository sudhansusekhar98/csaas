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645920"/>
            <a:ext cx="4572000" cy="4572000"/>
          </a:xfrm>
          <a:prstGeom prst="ellipse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-548640"/>
            <a:ext cx="2560320" cy="2560320"/>
          </a:xfrm>
          <a:prstGeom prst="ellipse">
            <a:avLst/>
          </a:prstGeom>
          <a:solidFill>
            <a:srgbClr val="0D9488">
              <a:alpha val="35000"/>
            </a:srgbClr>
          </a:solidFill>
          <a:ln w="12700">
            <a:solidFill>
              <a:srgbClr val="0D9488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3657600"/>
            <a:ext cx="2560320" cy="2560320"/>
          </a:xfrm>
          <a:prstGeom prst="ellipse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08760"/>
            <a:ext cx="64008" cy="2286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1732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CSAAS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2606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 Sample Anti-Adulteration System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58368" y="3291840"/>
            <a:ext cx="38404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4564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 Access Pvt Ltd</a:t>
            </a:r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May 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4617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i="1" spc="100" kern="0" dirty="0">
                <a:solidFill>
                  <a:srgbClr val="3341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Tamper-Evident  ·  Verifiable  ·  Audit-Ready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457200"/>
            <a:ext cx="1828800" cy="18288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 quality disputes cost millions. The root cause is sample adulteration — and until now, it has been nearly impossible to prove.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84048" y="1508760"/>
            <a:ext cx="2670048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4048" y="1508760"/>
            <a:ext cx="2670048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73352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Adulteration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23408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 samples are physically tampered with during transit from the collection point to the laboratory, distorting quality measurements and financial settlements.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36976" y="1508760"/>
            <a:ext cx="2670048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36976" y="1508760"/>
            <a:ext cx="2670048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01568" y="1673352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401568" y="23774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Chain of Custody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01568" y="2880360"/>
            <a:ext cx="23408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handoffs between personnel create gaps where accountability is lost. There is no verifiable record linking each sample to its handler.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9904" y="1508760"/>
            <a:ext cx="2670048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9904" y="1508760"/>
            <a:ext cx="2670048" cy="5486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673352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254496" y="23774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Gaps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54496" y="2880360"/>
            <a:ext cx="23408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Paper-based processes leave no digital evidence trail, exposing the plant to disputes, compliance failures and financial losses.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integrated chain-of-custody platform that makes coal sample adulteration impossible to conceal — from pit to lab.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66344" y="1828800"/>
            <a:ext cx="1481328" cy="1417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66344" y="1828800"/>
            <a:ext cx="1481328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" y="1993392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66344" y="2423160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Seal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75104" y="2537460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48840" y="1828800"/>
            <a:ext cx="1481328" cy="1417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48840" y="1828800"/>
            <a:ext cx="1481328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48840" y="1993392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48840" y="2423160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0" y="2537460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31336" y="1828800"/>
            <a:ext cx="1481328" cy="1417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31336" y="1828800"/>
            <a:ext cx="1481328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31336" y="1993392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831336" y="2423160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VMS Face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40096" y="2537460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13832" y="1828800"/>
            <a:ext cx="1481328" cy="1417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513832" y="1828800"/>
            <a:ext cx="1481328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1993392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513832" y="2423160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Tracking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022592" y="2537460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96328" y="1828800"/>
            <a:ext cx="1481328" cy="1417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96328" y="1828800"/>
            <a:ext cx="1481328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96328" y="1993392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196328" y="2423160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703320"/>
            <a:ext cx="2377440" cy="1051560"/>
          </a:xfrm>
          <a:prstGeom prst="rect">
            <a:avLst/>
          </a:prstGeom>
          <a:solidFill>
            <a:srgbClr val="0D9488">
              <a:alpha val="90000"/>
            </a:srgbClr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02920" y="381304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Verifiable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2920" y="42153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timestamped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83280" y="3703320"/>
            <a:ext cx="2377440" cy="1051560"/>
          </a:xfrm>
          <a:prstGeom prst="rect">
            <a:avLst/>
          </a:prstGeom>
          <a:solidFill>
            <a:srgbClr val="0D9488">
              <a:alpha val="90000"/>
            </a:srgbClr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383280" y="381304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383280" y="42153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movement audit trail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63640" y="3703320"/>
            <a:ext cx="2377440" cy="1051560"/>
          </a:xfrm>
          <a:prstGeom prst="rect">
            <a:avLst/>
          </a:prstGeom>
          <a:solidFill>
            <a:srgbClr val="0D9488">
              <a:alpha val="90000"/>
            </a:srgbClr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263640" y="381304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Audit-Ready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263640" y="42153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evidence export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Prototype Demo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47472" y="1005840"/>
            <a:ext cx="3968496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8463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Placeholder 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8463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prototype screenshot here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747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Collection &amp; QR Seal Assignment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28032" y="1005840"/>
            <a:ext cx="3968496" cy="3063240"/>
          </a:xfrm>
          <a:prstGeom prst="rect">
            <a:avLst/>
          </a:prstGeom>
          <a:solidFill>
            <a:srgbClr val="EBF5FB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65192" y="1170432"/>
            <a:ext cx="3694176" cy="2404872"/>
          </a:xfrm>
          <a:prstGeom prst="rect">
            <a:avLst/>
          </a:prstGeom>
          <a:solidFill>
            <a:srgbClr val="D6EA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65192" y="1170432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Placeholder 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65192" y="2372868"/>
            <a:ext cx="3694176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prototype screenshot here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28032" y="3666744"/>
            <a:ext cx="3968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Scan &amp; Chain-of-Custody Tracker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Features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47472" y="1197864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197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113385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Tamper-Evident QR Seals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Unique, one-time-use QR codes affixed at the collection point. Physical tampering breaks the seal and invalidates the code instantly.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" y="1947672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947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1883664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Multi-Point Checkpoint Scanning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216712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Designated scan stations record every custody handoff with timestamps and personnel IDs throughout the sample journey.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" y="26974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633472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VMS Face Analytics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91693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video management system automatically identifies and logs personnel who come into contact with each sample.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7472" y="3447288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3447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3383280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 Movement Tracking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366674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location the sample passes through — from pit to lab — is mapped and logged in a tamper-proof audit record.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7472" y="4197096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4197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413308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CCTV Evidence Archiving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441655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clips are automatically tagged to specific samples and custody events for rapid retrieval during audits or disputes.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09360" y="1078992"/>
            <a:ext cx="2487168" cy="356616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309360" y="1399032"/>
            <a:ext cx="24871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Anti-Adulteration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720840" y="2816352"/>
            <a:ext cx="1664208" cy="1664208"/>
          </a:xfrm>
          <a:prstGeom prst="ellipse">
            <a:avLst/>
          </a:prstGeom>
          <a:solidFill>
            <a:srgbClr val="0D9488">
              <a:alpha val="8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20840" y="2816352"/>
            <a:ext cx="166420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Layers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 Stack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8587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17043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13232" y="1371600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+ TypeScript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166420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Component-driven SPA with strong typing for reliability and maintainability.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36592" y="1097280"/>
            <a:ext cx="38587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36592" y="1097280"/>
            <a:ext cx="64008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01184" y="117043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&amp; SEALING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901184" y="1371600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QR Code Generation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01184" y="166420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Cryptographically unique codes with tamper-detection validation logic.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38587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331720"/>
            <a:ext cx="64008" cy="100584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40487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ANALYTICS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13232" y="2606040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VMS / Face Recognition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3232" y="289864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personnel identification at every checkpoint.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36592" y="2331720"/>
            <a:ext cx="38587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36592" y="2331720"/>
            <a:ext cx="64008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240487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TRACKING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01184" y="2606040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 Path Engine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01184" y="289864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Geolocation-aware lifecycle logging for full sample route visibility.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566160"/>
            <a:ext cx="38587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566160"/>
            <a:ext cx="64008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63931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13232" y="3840480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CCTV Integration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" y="413308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video clip tagging linked to custody events.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36592" y="3566160"/>
            <a:ext cx="38587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36592" y="3566160"/>
            <a:ext cx="64008" cy="100584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01184" y="363931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901184" y="3840480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Chain-of-Custody Database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01184" y="4133088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Immutable, timestamped log of every sample transfer and scan action.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C2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2926080"/>
            <a:ext cx="7498080" cy="0"/>
          </a:xfrm>
          <a:prstGeom prst="line">
            <a:avLst/>
          </a:prstGeom>
          <a:noFill/>
          <a:ln w="3175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" y="2779776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2560320"/>
            <a:ext cx="0" cy="36576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2900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2900" y="1755648"/>
            <a:ext cx="1691640" cy="8046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" y="17556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" y="31455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54096" y="2779776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2560320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54580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354580" y="1755648"/>
            <a:ext cx="1691640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354580" y="17556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54580" y="31455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65776" y="2779776"/>
            <a:ext cx="292608" cy="2926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12080" y="2560320"/>
            <a:ext cx="0" cy="36576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66260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366260" y="1755648"/>
            <a:ext cx="1691640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66260" y="17556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CCTV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Archiving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366260" y="31455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077456" y="2779776"/>
            <a:ext cx="292608" cy="292608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23760" y="2560320"/>
            <a:ext cx="0" cy="365760"/>
          </a:xfrm>
          <a:prstGeom prst="line">
            <a:avLst/>
          </a:prstGeom>
          <a:noFill/>
          <a:ln w="19050">
            <a:solidFill>
              <a:srgbClr val="1C2B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7940" y="148132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77940" y="1755648"/>
            <a:ext cx="1691640" cy="8046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377940" y="17556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77940" y="31455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Phase 4: API integration with government regulatory portals and third-party coal quality certification bodies.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3474720"/>
            <a:ext cx="2743200" cy="2743200"/>
          </a:xfrm>
          <a:prstGeom prst="ellipse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108960" y="3182112"/>
            <a:ext cx="292608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3832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 Access Pvt Ltd</a:t>
            </a:r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sekhar@vlaccess.com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0" kern="0" dirty="0">
                <a:solidFill>
                  <a:srgbClr val="2D3F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S A A 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CSAAS – Coal Sample Anti-Adulteration System</dc:title>
  <dc:subject>Client Presentation – May 2026</dc:subject>
  <dc:creator>VL Access Pvt Ltd</dc:creator>
  <cp:lastModifiedBy>VL Access Pvt Ltd</cp:lastModifiedBy>
  <cp:revision>1</cp:revision>
  <dcterms:created xsi:type="dcterms:W3CDTF">2026-05-19T08:35:15Z</dcterms:created>
  <dcterms:modified xsi:type="dcterms:W3CDTF">2026-05-19T08:35:15Z</dcterms:modified>
</cp:coreProperties>
</file>